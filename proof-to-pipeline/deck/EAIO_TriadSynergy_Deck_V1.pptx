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0:00–0:30. I'm going to show you a real engagement, the agent that runs part of it, and then give you both the method and the agent to take home.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0:30–2:00. The 60-second self-contained story. Founded 1977, inter-spiritual retreat community. Property sale closes a chapter; nobody owns the ending. This is a FORENSIC engagement: start from nothing, rebuild the record, then run the goodbye with intention.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2:00–3:00. This is the map for the next three slides — watch the key in the corner. The framework is the brand and the brand is the framework.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3:00–4:30. Mailing-list archaeology: exports, spreadsheets, paper fragments to one verified master. The segmentation matters: consent-first outreach to the unknown 1,984 — respect encoded in data structure. Work shown in ARC's own branding where screenshots appear.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4:30–6:00. Fill the box Friday morning from the ALF run. Say it plainly: 'These numbers are from last night's circle — my agent briefed me this morning.' Pause one beat.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6:00–7:30. Technical meat for this room. Fallback-first design: assume the API fails, label data freshness. Human-in-the-loop by contract, not accident. This exact agent — sanitized — is in the kit.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7:30–8:30. The I of the triad: leadership through an ending. Name the fund amount verbally ONLY if Board Chair consent covers it; the slide stays general. Land the positioning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8:30–9:30. The meta moment — deliver plainly, no flourish. One beat after 'in your inbox.'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9:30–10:00. DROP THE FORM LINK IN ZOOM CHAT NOW. One availability line, no pitch, no price. Then: 'Questions — let's go.'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24528" y="566928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3950208" y="932688"/>
            <a:ext cx="310896" cy="310896"/>
          </a:xfrm>
          <a:prstGeom prst="ellipse">
            <a:avLst/>
          </a:prstGeom>
          <a:solidFill>
            <a:srgbClr val="2E6E6E"/>
          </a:solidFill>
          <a:ln/>
        </p:spPr>
      </p:sp>
      <p:sp>
        <p:nvSpPr>
          <p:cNvPr id="4" name="Shape 2"/>
          <p:cNvSpPr/>
          <p:nvPr/>
        </p:nvSpPr>
        <p:spPr>
          <a:xfrm>
            <a:off x="4498848" y="932688"/>
            <a:ext cx="310896" cy="310896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572768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STARTING FROM NOTHING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39572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C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Ending a 50-year organization well — with AI in the loop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457200" y="3913632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 Halvorson  ·  TRIAD Synergy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9C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Driven Action for Business and Community Leaders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F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Consulting · Elite AI Operators · August 21,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call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170432"/>
            <a:ext cx="182880" cy="182880"/>
          </a:xfrm>
          <a:prstGeom prst="ellipse">
            <a:avLst/>
          </a:prstGeom>
          <a:solidFill>
            <a:srgbClr val="1F3A4D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100584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 2025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sold. Retreat center goes dark.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53796" y="1389888"/>
            <a:ext cx="0" cy="566928"/>
          </a:xfrm>
          <a:prstGeom prst="line">
            <a:avLst/>
          </a:prstGeom>
          <a:noFill/>
          <a:ln w="19050">
            <a:solidFill>
              <a:srgbClr val="C7D2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2066544"/>
            <a:ext cx="182880" cy="182880"/>
          </a:xfrm>
          <a:prstGeom prst="ellipse">
            <a:avLst/>
          </a:prstGeom>
          <a:solidFill>
            <a:srgbClr val="1F3A4D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1901952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season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Director and staff depart.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53796" y="2286000"/>
            <a:ext cx="0" cy="566928"/>
          </a:xfrm>
          <a:prstGeom prst="line">
            <a:avLst/>
          </a:prstGeom>
          <a:noFill/>
          <a:ln w="19050">
            <a:solidFill>
              <a:srgbClr val="C7D2D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66928" y="2962656"/>
            <a:ext cx="182880" cy="182880"/>
          </a:xfrm>
          <a:prstGeom prst="ellipse">
            <a:avLst/>
          </a:prstGeom>
          <a:solidFill>
            <a:srgbClr val="1F3A4D"/>
          </a:solidFill>
          <a:ln/>
        </p:spPr>
      </p:sp>
      <p:sp>
        <p:nvSpPr>
          <p:cNvPr id="10" name="Text 8"/>
          <p:cNvSpPr/>
          <p:nvPr/>
        </p:nvSpPr>
        <p:spPr>
          <a:xfrm>
            <a:off x="932688" y="2798064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left on paper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succession plan. No operating playbook.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53796" y="3182112"/>
            <a:ext cx="0" cy="566928"/>
          </a:xfrm>
          <a:prstGeom prst="line">
            <a:avLst/>
          </a:prstGeom>
          <a:noFill/>
          <a:ln w="19050">
            <a:solidFill>
              <a:srgbClr val="C7D2D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" y="3858768"/>
            <a:ext cx="182880" cy="182880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932688" y="3694176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C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remains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five-person board — and no map.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257800" y="1234440"/>
            <a:ext cx="3429000" cy="3017520"/>
          </a:xfrm>
          <a:prstGeom prst="roundRect">
            <a:avLst>
              <a:gd name="adj" fmla="val 2727"/>
            </a:avLst>
          </a:prstGeom>
          <a:solidFill>
            <a:srgbClr val="1F3A4D"/>
          </a:solidFill>
          <a:ln/>
          <a:effectLst>
            <a:outerShdw sx="100000" sy="100000" kx="0" ky="0" algn="bl" rotWithShape="0" blurRad="101600" dist="38100" dir="5400000">
              <a:srgbClr val="9AA7AE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440680" y="1600200"/>
            <a:ext cx="30632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9C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remained: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years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relationships —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C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nowhere in one place.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66928" y="459028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job: reconstruct the organization's memory — then help it end well, on purpose.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method: I · We · 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490472" y="1417320"/>
            <a:ext cx="768096" cy="768096"/>
          </a:xfrm>
          <a:prstGeom prst="ellipse">
            <a:avLst/>
          </a:prstGeom>
          <a:solidFill>
            <a:srgbClr val="1F3A4D"/>
          </a:solidFill>
          <a:ln/>
        </p:spPr>
      </p:sp>
      <p:sp>
        <p:nvSpPr>
          <p:cNvPr id="4" name="Shape 2"/>
          <p:cNvSpPr/>
          <p:nvPr/>
        </p:nvSpPr>
        <p:spPr>
          <a:xfrm>
            <a:off x="576072" y="3017520"/>
            <a:ext cx="768096" cy="768096"/>
          </a:xfrm>
          <a:prstGeom prst="ellipse">
            <a:avLst/>
          </a:prstGeom>
          <a:solidFill>
            <a:srgbClr val="2E6E6E"/>
          </a:solidFill>
          <a:ln/>
        </p:spPr>
      </p:sp>
      <p:sp>
        <p:nvSpPr>
          <p:cNvPr id="5" name="Shape 3"/>
          <p:cNvSpPr/>
          <p:nvPr/>
        </p:nvSpPr>
        <p:spPr>
          <a:xfrm>
            <a:off x="2404872" y="3017520"/>
            <a:ext cx="768096" cy="768096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6" name="Text 4"/>
          <p:cNvSpPr/>
          <p:nvPr/>
        </p:nvSpPr>
        <p:spPr>
          <a:xfrm>
            <a:off x="1490472" y="141732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76072" y="301752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404872" y="301752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1307592" y="2130552"/>
            <a:ext cx="-256032" cy="841248"/>
          </a:xfrm>
          <a:prstGeom prst="line">
            <a:avLst/>
          </a:prstGeom>
          <a:noFill/>
          <a:ln w="22225">
            <a:solidFill>
              <a:srgbClr val="88888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41448" y="2130552"/>
            <a:ext cx="256032" cy="841248"/>
          </a:xfrm>
          <a:prstGeom prst="line">
            <a:avLst/>
          </a:prstGeom>
          <a:noFill/>
          <a:ln w="22225">
            <a:solidFill>
              <a:srgbClr val="88888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99032" y="3401568"/>
            <a:ext cx="950976" cy="0"/>
          </a:xfrm>
          <a:prstGeom prst="line">
            <a:avLst/>
          </a:prstGeom>
          <a:noFill/>
          <a:ln w="22225">
            <a:solidFill>
              <a:srgbClr val="8888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77640" y="1344168"/>
            <a:ext cx="274320" cy="274320"/>
          </a:xfrm>
          <a:prstGeom prst="ellipse">
            <a:avLst/>
          </a:prstGeom>
          <a:solidFill>
            <a:srgbClr val="1F3A4D"/>
          </a:solidFill>
          <a:ln/>
        </p:spPr>
      </p:sp>
      <p:sp>
        <p:nvSpPr>
          <p:cNvPr id="13" name="Text 11"/>
          <p:cNvSpPr/>
          <p:nvPr/>
        </p:nvSpPr>
        <p:spPr>
          <a:xfrm>
            <a:off x="4434840" y="1207008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50" b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— the leader</a:t>
            </a:r>
            <a:endParaRPr lang="en-US" sz="15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Succession, identity, letting go. Someone has to own the ending.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3977640" y="2331720"/>
            <a:ext cx="274320" cy="274320"/>
          </a:xfrm>
          <a:prstGeom prst="ellipse">
            <a:avLst/>
          </a:prstGeom>
          <a:solidFill>
            <a:srgbClr val="2E6E6E"/>
          </a:solidFill>
          <a:ln/>
        </p:spPr>
      </p:sp>
      <p:sp>
        <p:nvSpPr>
          <p:cNvPr id="15" name="Text 13"/>
          <p:cNvSpPr/>
          <p:nvPr/>
        </p:nvSpPr>
        <p:spPr>
          <a:xfrm>
            <a:off x="4434840" y="219456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50" b="1" dirty="0">
                <a:solidFill>
                  <a:srgbClr val="2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— the community</a:t>
            </a:r>
            <a:endParaRPr lang="en-US" sz="15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heard before goodbye. Listening as infrastructure, not sentiment.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3977640" y="3319272"/>
            <a:ext cx="274320" cy="274320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17" name="Text 15"/>
          <p:cNvSpPr/>
          <p:nvPr/>
        </p:nvSpPr>
        <p:spPr>
          <a:xfrm>
            <a:off x="4434840" y="3182112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50" b="1" dirty="0">
                <a:solidFill>
                  <a:srgbClr val="C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— the systems</a:t>
            </a:r>
            <a:endParaRPr lang="en-US" sz="15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Data, money, tech. Institutional memory is a systems problem.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502920" y="459028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Transitions fail when you optimize one dimension and neglect the other two.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08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— forensic reconstruction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403336" y="82296"/>
            <a:ext cx="164592" cy="164592"/>
          </a:xfrm>
          <a:prstGeom prst="ellipse">
            <a:avLst/>
          </a:prstGeom>
          <a:solidFill>
            <a:srgbClr val="1F3A4D">
              <a:alpha val="3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212409" y="411480"/>
            <a:ext cx="164592" cy="164592"/>
          </a:xfrm>
          <a:prstGeom prst="ellipse">
            <a:avLst/>
          </a:prstGeom>
          <a:solidFill>
            <a:srgbClr val="2E6E6E">
              <a:alpha val="3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553115" y="370332"/>
            <a:ext cx="246888" cy="246888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6" name="Text 4"/>
          <p:cNvSpPr/>
          <p:nvPr/>
        </p:nvSpPr>
        <p:spPr>
          <a:xfrm>
            <a:off x="8028432" y="65836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C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02920" y="1188720"/>
            <a:ext cx="1389888" cy="603504"/>
          </a:xfrm>
          <a:prstGeom prst="roundRect">
            <a:avLst>
              <a:gd name="adj" fmla="val 10606"/>
            </a:avLst>
          </a:prstGeom>
          <a:solidFill>
            <a:srgbClr val="EEF3F4"/>
          </a:solidFill>
          <a:ln w="12700">
            <a:solidFill>
              <a:srgbClr val="CBD8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188720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874520" y="1188720"/>
            <a:ext cx="274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130552" y="1188720"/>
            <a:ext cx="1389888" cy="603504"/>
          </a:xfrm>
          <a:prstGeom prst="roundRect">
            <a:avLst>
              <a:gd name="adj" fmla="val 10606"/>
            </a:avLst>
          </a:prstGeom>
          <a:solidFill>
            <a:srgbClr val="EEF3F4"/>
          </a:solidFill>
          <a:ln w="12700">
            <a:solidFill>
              <a:srgbClr val="CBD8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30552" y="1188720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+ verify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502152" y="1188720"/>
            <a:ext cx="274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758184" y="1188720"/>
            <a:ext cx="1389888" cy="603504"/>
          </a:xfrm>
          <a:prstGeom prst="roundRect">
            <a:avLst>
              <a:gd name="adj" fmla="val 10606"/>
            </a:avLst>
          </a:prstGeom>
          <a:solidFill>
            <a:srgbClr val="EEF3F4"/>
          </a:solidFill>
          <a:ln w="12700">
            <a:solidFill>
              <a:srgbClr val="CBD8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58184" y="1188720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Dedupe review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129784" y="1188720"/>
            <a:ext cx="274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385816" y="1188720"/>
            <a:ext cx="1389888" cy="603504"/>
          </a:xfrm>
          <a:prstGeom prst="roundRect">
            <a:avLst>
              <a:gd name="adj" fmla="val 10606"/>
            </a:avLst>
          </a:prstGeom>
          <a:solidFill>
            <a:srgbClr val="EEF3F4"/>
          </a:solidFill>
          <a:ln w="12700">
            <a:solidFill>
              <a:srgbClr val="CBD8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85816" y="1188720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757416" y="1188720"/>
            <a:ext cx="274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013448" y="1188720"/>
            <a:ext cx="1389888" cy="603504"/>
          </a:xfrm>
          <a:prstGeom prst="roundRect">
            <a:avLst>
              <a:gd name="adj" fmla="val 10606"/>
            </a:avLst>
          </a:prstGeom>
          <a:solidFill>
            <a:srgbClr val="C08A2E"/>
          </a:solidFill>
          <a:ln w="12700">
            <a:solidFill>
              <a:srgbClr val="C08A2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013448" y="1188720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V5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02920" y="2148840"/>
            <a:ext cx="2606040" cy="1554480"/>
          </a:xfrm>
          <a:prstGeom prst="roundRect">
            <a:avLst>
              <a:gd name="adj" fmla="val 5294"/>
            </a:avLst>
          </a:prstGeom>
          <a:solidFill>
            <a:srgbClr val="EEF3F4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2286000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C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~2,400</a:t>
            </a:r>
            <a:endParaRPr lang="en-US" sz="3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contacts reconstructed into one verified master list (V1→V5)</a:t>
            </a:r>
            <a:endParaRPr lang="en-US" sz="3000" dirty="0"/>
          </a:p>
        </p:txBody>
      </p:sp>
      <p:sp>
        <p:nvSpPr>
          <p:cNvPr id="23" name="Shape 21"/>
          <p:cNvSpPr/>
          <p:nvPr/>
        </p:nvSpPr>
        <p:spPr>
          <a:xfrm>
            <a:off x="3291840" y="2148840"/>
            <a:ext cx="2606040" cy="1554480"/>
          </a:xfrm>
          <a:prstGeom prst="roundRect">
            <a:avLst>
              <a:gd name="adj" fmla="val 5294"/>
            </a:avLst>
          </a:prstGeom>
          <a:solidFill>
            <a:srgbClr val="EEF3F4"/>
          </a:solidFill>
          <a:ln/>
        </p:spPr>
      </p:sp>
      <p:sp>
        <p:nvSpPr>
          <p:cNvPr id="24" name="Text 22"/>
          <p:cNvSpPr/>
          <p:nvPr/>
        </p:nvSpPr>
        <p:spPr>
          <a:xfrm>
            <a:off x="3474720" y="2286000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C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472</a:t>
            </a:r>
            <a:endParaRPr lang="en-US" sz="3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opt-in supporters, imported with provenance</a:t>
            </a:r>
            <a:endParaRPr lang="en-US" sz="3000" dirty="0"/>
          </a:p>
        </p:txBody>
      </p:sp>
      <p:sp>
        <p:nvSpPr>
          <p:cNvPr id="25" name="Shape 23"/>
          <p:cNvSpPr/>
          <p:nvPr/>
        </p:nvSpPr>
        <p:spPr>
          <a:xfrm>
            <a:off x="6080760" y="2148840"/>
            <a:ext cx="2606040" cy="1554480"/>
          </a:xfrm>
          <a:prstGeom prst="roundRect">
            <a:avLst>
              <a:gd name="adj" fmla="val 5294"/>
            </a:avLst>
          </a:prstGeom>
          <a:solidFill>
            <a:srgbClr val="EEF3F4"/>
          </a:solidFill>
          <a:ln/>
        </p:spPr>
      </p:sp>
      <p:sp>
        <p:nvSpPr>
          <p:cNvPr id="26" name="Text 24"/>
          <p:cNvSpPr/>
          <p:nvPr/>
        </p:nvSpPr>
        <p:spPr>
          <a:xfrm>
            <a:off x="6263640" y="2286000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C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1,984</a:t>
            </a:r>
            <a:endParaRPr lang="en-US" sz="3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unknown-connection contacts, segmented for consent-first outreach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502920" y="397764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the operating layer nobody had: </a:t>
            </a:r>
            <a:pPr indent="0" marL="0">
              <a:buNone/>
            </a:pPr>
            <a:r>
              <a:rPr lang="en-US" sz="1350" b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tech stack, new website, email infrastructure, donation rails.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02920" y="459028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memory is a data problem before it is a story problem.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6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— the Season of Listening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403336" y="82296"/>
            <a:ext cx="164592" cy="164592"/>
          </a:xfrm>
          <a:prstGeom prst="ellipse">
            <a:avLst/>
          </a:prstGeom>
          <a:solidFill>
            <a:srgbClr val="1F3A4D">
              <a:alpha val="3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71261" y="370332"/>
            <a:ext cx="246888" cy="246888"/>
          </a:xfrm>
          <a:prstGeom prst="ellipse">
            <a:avLst/>
          </a:prstGeom>
          <a:solidFill>
            <a:srgbClr val="2E6E6E"/>
          </a:solidFill>
          <a:ln/>
        </p:spPr>
      </p:sp>
      <p:sp>
        <p:nvSpPr>
          <p:cNvPr id="5" name="Shape 3"/>
          <p:cNvSpPr/>
          <p:nvPr/>
        </p:nvSpPr>
        <p:spPr>
          <a:xfrm>
            <a:off x="8594263" y="411480"/>
            <a:ext cx="164592" cy="164592"/>
          </a:xfrm>
          <a:prstGeom prst="ellipse">
            <a:avLst/>
          </a:prstGeom>
          <a:solidFill>
            <a:srgbClr val="C08A2E">
              <a:alpha val="3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8028432" y="65836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2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1115568"/>
            <a:ext cx="16276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2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2,436</a:t>
            </a:r>
            <a:endParaRPr lang="en-US" sz="3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launch emails delivered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2258568" y="1115568"/>
            <a:ext cx="16276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2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97.95%</a:t>
            </a:r>
            <a:endParaRPr lang="en-US" sz="3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rate on a rebuilt list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014216" y="1115568"/>
            <a:ext cx="16276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2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31.5%</a:t>
            </a:r>
            <a:endParaRPr lang="en-US" sz="3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— sector average is ~28.6%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502920" y="2487168"/>
            <a:ext cx="2377440" cy="384048"/>
          </a:xfrm>
          <a:prstGeom prst="rect">
            <a:avLst/>
          </a:prstGeom>
          <a:solidFill>
            <a:srgbClr val="2E6E6E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6072" y="2487168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880360" y="2487168"/>
            <a:ext cx="868680" cy="384048"/>
          </a:xfrm>
          <a:prstGeom prst="rect">
            <a:avLst/>
          </a:prstGeom>
          <a:solidFill>
            <a:srgbClr val="2E6E6E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53512" y="2487168"/>
            <a:ext cx="722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749040" y="2487168"/>
            <a:ext cx="868680" cy="384048"/>
          </a:xfrm>
          <a:prstGeom prst="rect">
            <a:avLst/>
          </a:prstGeom>
          <a:solidFill>
            <a:srgbClr val="2E6E6E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22192" y="2487168"/>
            <a:ext cx="722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17720" y="2487168"/>
            <a:ext cx="868680" cy="384048"/>
          </a:xfrm>
          <a:prstGeom prst="rect">
            <a:avLst/>
          </a:prstGeom>
          <a:solidFill>
            <a:srgbClr val="2E6E6E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90872" y="2487168"/>
            <a:ext cx="722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2871216"/>
            <a:ext cx="2377440" cy="384048"/>
          </a:xfrm>
          <a:prstGeom prst="rect">
            <a:avLst/>
          </a:prstGeom>
          <a:solidFill>
            <a:srgbClr val="EEF3F4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2871216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responses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880360" y="2871216"/>
            <a:ext cx="868680" cy="384048"/>
          </a:xfrm>
          <a:prstGeom prst="rect">
            <a:avLst/>
          </a:prstGeom>
          <a:solidFill>
            <a:srgbClr val="EEF3F4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953512" y="2871216"/>
            <a:ext cx="722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749040" y="2871216"/>
            <a:ext cx="868680" cy="384048"/>
          </a:xfrm>
          <a:prstGeom prst="rect">
            <a:avLst/>
          </a:prstGeom>
          <a:solidFill>
            <a:srgbClr val="EEF3F4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22192" y="2871216"/>
            <a:ext cx="722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617720" y="2871216"/>
            <a:ext cx="868680" cy="384048"/>
          </a:xfrm>
          <a:prstGeom prst="rect">
            <a:avLst/>
          </a:prstGeom>
          <a:solidFill>
            <a:srgbClr val="EEF3F4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90872" y="2871216"/>
            <a:ext cx="722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02920" y="3255264"/>
            <a:ext cx="23774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76072" y="3255264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 RSVPs (each)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880360" y="3255264"/>
            <a:ext cx="8686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53512" y="3255264"/>
            <a:ext cx="722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749040" y="3255264"/>
            <a:ext cx="8686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822192" y="3255264"/>
            <a:ext cx="722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20–25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617720" y="3255264"/>
            <a:ext cx="8686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90872" y="3255264"/>
            <a:ext cx="722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30+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02920" y="3639312"/>
            <a:ext cx="2377440" cy="384048"/>
          </a:xfrm>
          <a:prstGeom prst="rect">
            <a:avLst/>
          </a:prstGeom>
          <a:solidFill>
            <a:srgbClr val="EEF3F4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76072" y="3639312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Story-archive gifts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880360" y="3639312"/>
            <a:ext cx="868680" cy="384048"/>
          </a:xfrm>
          <a:prstGeom prst="rect">
            <a:avLst/>
          </a:prstGeom>
          <a:solidFill>
            <a:srgbClr val="EEF3F4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953512" y="3639312"/>
            <a:ext cx="722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749040" y="3639312"/>
            <a:ext cx="868680" cy="384048"/>
          </a:xfrm>
          <a:prstGeom prst="rect">
            <a:avLst/>
          </a:prstGeom>
          <a:solidFill>
            <a:srgbClr val="EEF3F4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822192" y="3639312"/>
            <a:ext cx="722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617720" y="3639312"/>
            <a:ext cx="868680" cy="384048"/>
          </a:xfrm>
          <a:prstGeom prst="rect">
            <a:avLst/>
          </a:prstGeom>
          <a:solidFill>
            <a:srgbClr val="EEF3F4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690872" y="3639312"/>
            <a:ext cx="722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02920" y="4224528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Listening Circles · community survey · story archive — a goodbye run on a scorecard.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5806440" y="1115568"/>
            <a:ext cx="2880360" cy="3291840"/>
          </a:xfrm>
          <a:prstGeom prst="roundRect">
            <a:avLst>
              <a:gd name="adj" fmla="val 2857"/>
            </a:avLst>
          </a:prstGeom>
          <a:solidFill>
            <a:srgbClr val="1F3A4D"/>
          </a:solidFill>
          <a:ln/>
          <a:effectLst>
            <a:outerShdw sx="100000" sy="100000" kx="0" ky="0" algn="bl" rotWithShape="0" blurRad="101600" dist="38100" dir="5400000">
              <a:srgbClr val="9AA7AE">
                <a:alpha val="3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5989320" y="1325880"/>
            <a:ext cx="25146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7BC9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live — agent run</a:t>
            </a:r>
            <a:endParaRPr lang="en-US" sz="10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8FA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FRI AUG 21 · 8:00 AM</a:t>
            </a:r>
            <a:endParaRPr lang="en-US" sz="10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600" b="1" dirty="0">
                <a:solidFill>
                  <a:srgbClr val="C08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FRESH NUMBERS ]</a:t>
            </a:r>
            <a:endParaRPr lang="en-US" sz="10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filled morning-of from the</a:t>
            </a:r>
            <a:endParaRPr lang="en-US" sz="10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daily report agent —</a:t>
            </a:r>
            <a:endParaRPr lang="en-US" sz="10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including last night's</a:t>
            </a:r>
            <a:endParaRPr lang="en-US" sz="10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Listening Circle (Aug 20).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F3A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agent: a daily report with judgment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170432"/>
            <a:ext cx="2514600" cy="512064"/>
          </a:xfrm>
          <a:prstGeom prst="roundRect">
            <a:avLst>
              <a:gd name="adj" fmla="val 12500"/>
            </a:avLst>
          </a:prstGeom>
          <a:solidFill>
            <a:srgbClr val="2C4B6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17043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RSVP sheet (live)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017520" y="1426464"/>
            <a:ext cx="457200" cy="1426464"/>
          </a:xfrm>
          <a:prstGeom prst="line">
            <a:avLst/>
          </a:prstGeom>
          <a:noFill/>
          <a:ln/>
        </p:spPr>
      </p:sp>
      <p:sp>
        <p:nvSpPr>
          <p:cNvPr id="6" name="Shape 4"/>
          <p:cNvSpPr/>
          <p:nvPr/>
        </p:nvSpPr>
        <p:spPr>
          <a:xfrm>
            <a:off x="502920" y="1828800"/>
            <a:ext cx="2514600" cy="512064"/>
          </a:xfrm>
          <a:prstGeom prst="roundRect">
            <a:avLst>
              <a:gd name="adj" fmla="val 12500"/>
            </a:avLst>
          </a:prstGeom>
          <a:solidFill>
            <a:srgbClr val="2C4B60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82880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sheet (live)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017520" y="2084832"/>
            <a:ext cx="457200" cy="768096"/>
          </a:xfrm>
          <a:prstGeom prst="line">
            <a:avLst/>
          </a:prstGeom>
          <a:noFill/>
          <a:ln/>
        </p:spPr>
      </p:sp>
      <p:sp>
        <p:nvSpPr>
          <p:cNvPr id="9" name="Shape 7"/>
          <p:cNvSpPr/>
          <p:nvPr/>
        </p:nvSpPr>
        <p:spPr>
          <a:xfrm>
            <a:off x="502920" y="2487168"/>
            <a:ext cx="2514600" cy="512064"/>
          </a:xfrm>
          <a:prstGeom prst="roundRect">
            <a:avLst>
              <a:gd name="adj" fmla="val 12500"/>
            </a:avLst>
          </a:prstGeom>
          <a:solidFill>
            <a:srgbClr val="2C4B60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87168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Human-only stream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017520" y="2743200"/>
            <a:ext cx="457200" cy="-548640"/>
          </a:xfrm>
          <a:prstGeom prst="line">
            <a:avLst/>
          </a:prstGeom>
          <a:noFill/>
          <a:ln/>
        </p:spPr>
      </p:sp>
      <p:sp>
        <p:nvSpPr>
          <p:cNvPr id="12" name="Shape 10"/>
          <p:cNvSpPr/>
          <p:nvPr/>
        </p:nvSpPr>
        <p:spPr>
          <a:xfrm>
            <a:off x="502920" y="3145536"/>
            <a:ext cx="2514600" cy="512064"/>
          </a:xfrm>
          <a:prstGeom prst="roundRect">
            <a:avLst>
              <a:gd name="adj" fmla="val 12500"/>
            </a:avLst>
          </a:prstGeom>
          <a:solidFill>
            <a:srgbClr val="2C4B60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145536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stats (fallback-first)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017520" y="3401568"/>
            <a:ext cx="457200" cy="-2523744"/>
          </a:xfrm>
          <a:prstGeom prst="line">
            <a:avLst/>
          </a:prstGeom>
          <a:noFill/>
          <a:ln/>
        </p:spPr>
      </p:sp>
      <p:sp>
        <p:nvSpPr>
          <p:cNvPr id="15" name="Text 13"/>
          <p:cNvSpPr/>
          <p:nvPr/>
        </p:nvSpPr>
        <p:spPr>
          <a:xfrm>
            <a:off x="3035808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08A2E"/>
                </a:solidFill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520440" y="1170432"/>
            <a:ext cx="2651760" cy="749808"/>
          </a:xfrm>
          <a:prstGeom prst="roundRect">
            <a:avLst>
              <a:gd name="adj" fmla="val 8537"/>
            </a:avLst>
          </a:prstGeom>
          <a:solidFill>
            <a:srgbClr val="16303F"/>
          </a:solidFill>
          <a:ln w="12700">
            <a:solidFill>
              <a:srgbClr val="3E5B6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0" y="1243584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Scorecard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AFC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/ target / stretch, pace not totals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520440" y="2066544"/>
            <a:ext cx="2651760" cy="749808"/>
          </a:xfrm>
          <a:prstGeom prst="roundRect">
            <a:avLst>
              <a:gd name="adj" fmla="val 8537"/>
            </a:avLst>
          </a:prstGeom>
          <a:solidFill>
            <a:srgbClr val="16303F"/>
          </a:solidFill>
          <a:ln w="12700">
            <a:solidFill>
              <a:srgbClr val="3E5B6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0" y="2139696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 flags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AFC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carried forward until a human clears them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520440" y="2962656"/>
            <a:ext cx="2651760" cy="749808"/>
          </a:xfrm>
          <a:prstGeom prst="roundRect">
            <a:avLst>
              <a:gd name="adj" fmla="val 8537"/>
            </a:avLst>
          </a:prstGeom>
          <a:solidFill>
            <a:srgbClr val="16303F"/>
          </a:solidFill>
          <a:ln w="12700">
            <a:solidFill>
              <a:srgbClr val="3E5B6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0" y="3035808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Digest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AFC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ghost-written in the client lead's own voice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0" y="1170432"/>
            <a:ext cx="2240280" cy="2688336"/>
          </a:xfrm>
          <a:prstGeom prst="roundRect">
            <a:avLst>
              <a:gd name="adj" fmla="val 3673"/>
            </a:avLst>
          </a:prstGeom>
          <a:solidFill>
            <a:srgbClr val="C08A2E"/>
          </a:solidFill>
          <a:ln/>
        </p:spPr>
      </p:sp>
      <p:sp>
        <p:nvSpPr>
          <p:cNvPr id="23" name="Text 21"/>
          <p:cNvSpPr/>
          <p:nvPr/>
        </p:nvSpPr>
        <p:spPr>
          <a:xfrm>
            <a:off x="6565392" y="1325880"/>
            <a:ext cx="19202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HONESTY RULES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i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“Never claim a run happened unattended.”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i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“Surface discrepancies; never resolve them silently.”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i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“Count the community, not the insiders.”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02920" y="429768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engineering isn't the automation — it's the judgment encoded as rules. That's what makes a grieving board trust an agent.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— ending well, forward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362188" y="41148"/>
            <a:ext cx="246888" cy="246888"/>
          </a:xfrm>
          <a:prstGeom prst="ellipse">
            <a:avLst/>
          </a:prstGeom>
          <a:solidFill>
            <a:srgbClr val="1F3A4D"/>
          </a:solidFill>
          <a:ln/>
        </p:spPr>
      </p:sp>
      <p:sp>
        <p:nvSpPr>
          <p:cNvPr id="4" name="Shape 2"/>
          <p:cNvSpPr/>
          <p:nvPr/>
        </p:nvSpPr>
        <p:spPr>
          <a:xfrm>
            <a:off x="8212409" y="411480"/>
            <a:ext cx="164592" cy="164592"/>
          </a:xfrm>
          <a:prstGeom prst="ellipse">
            <a:avLst/>
          </a:prstGeom>
          <a:solidFill>
            <a:srgbClr val="2E6E6E">
              <a:alpha val="3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594263" y="411480"/>
            <a:ext cx="164592" cy="164592"/>
          </a:xfrm>
          <a:prstGeom prst="ellipse">
            <a:avLst/>
          </a:prstGeom>
          <a:solidFill>
            <a:srgbClr val="C08A2E">
              <a:alpha val="3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8028432" y="65836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02920" y="1188720"/>
            <a:ext cx="566928" cy="566928"/>
          </a:xfrm>
          <a:prstGeom prst="roundRect">
            <a:avLst>
              <a:gd name="adj" fmla="val 14516"/>
            </a:avLst>
          </a:prstGeom>
          <a:solidFill>
            <a:srgbClr val="1F3A4D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188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80160" y="1143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50" b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ending</a:t>
            </a:r>
            <a:endParaRPr lang="en-US" sz="15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Succession owned. Dissolution run with dignity, on a schedule.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502920" y="2267712"/>
            <a:ext cx="566928" cy="566928"/>
          </a:xfrm>
          <a:prstGeom prst="roundRect">
            <a:avLst>
              <a:gd name="adj" fmla="val 14516"/>
            </a:avLst>
          </a:prstGeom>
          <a:solidFill>
            <a:srgbClr val="1F3A4D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2677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280160" y="2221992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50" b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legacy</a:t>
            </a:r>
            <a:endParaRPr lang="en-US" sz="15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dedicated legacy fund distributing the remaining assets to mission-aligned partners — the community's story continues past the org.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502920" y="3346704"/>
            <a:ext cx="566928" cy="566928"/>
          </a:xfrm>
          <a:prstGeom prst="roundRect">
            <a:avLst>
              <a:gd name="adj" fmla="val 14516"/>
            </a:avLst>
          </a:prstGeom>
          <a:solidFill>
            <a:srgbClr val="1F3A4D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3467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280160" y="3300984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50" b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category</a:t>
            </a:r>
            <a:endParaRPr lang="en-US" sz="15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repeatable work: transition · turnaround · succession, for small nonprofits, businesses, and public agencies.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502920" y="452628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consultants sell beginnings. Almost nobody owns endings — and every organization has one.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protocol: Proof-to-Pipeline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1920240" cy="1188720"/>
          </a:xfrm>
          <a:prstGeom prst="roundRect">
            <a:avLst>
              <a:gd name="adj" fmla="val 6923"/>
            </a:avLst>
          </a:prstGeom>
          <a:solidFill>
            <a:srgbClr val="1F3A4D"/>
          </a:solidFill>
          <a:ln/>
          <a:effectLst>
            <a:outerShdw sx="100000" sy="100000" kx="0" ky="0" algn="bl" rotWithShape="0" blurRad="76200" dist="25400" dir="5400000">
              <a:srgbClr val="AEB9BD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9224" y="1517904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Interview</a:t>
            </a:r>
            <a:endParaRPr lang="en-US" sz="14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B9C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questions + 5, one at a time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2404872" y="1371600"/>
            <a:ext cx="274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88888"/>
                </a:solidFill>
              </a:rPr>
              <a:t>→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651760" y="1371600"/>
            <a:ext cx="1920240" cy="1188720"/>
          </a:xfrm>
          <a:prstGeom prst="roundRect">
            <a:avLst>
              <a:gd name="adj" fmla="val 6923"/>
            </a:avLst>
          </a:prstGeom>
          <a:solidFill>
            <a:srgbClr val="1F3A4D"/>
          </a:solidFill>
          <a:ln/>
          <a:effectLst>
            <a:outerShdw sx="100000" sy="100000" kx="0" ky="0" algn="bl" rotWithShape="0" blurRad="76200" dist="25400" dir="5400000">
              <a:srgbClr val="AEB9BD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98064" y="1517904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Build</a:t>
            </a:r>
            <a:endParaRPr lang="en-US" sz="14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B9C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deck · promo · a working agent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4553712" y="1371600"/>
            <a:ext cx="274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88888"/>
                </a:solidFill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800600" y="1371600"/>
            <a:ext cx="1920240" cy="1188720"/>
          </a:xfrm>
          <a:prstGeom prst="roundRect">
            <a:avLst>
              <a:gd name="adj" fmla="val 6923"/>
            </a:avLst>
          </a:prstGeom>
          <a:solidFill>
            <a:srgbClr val="1F3A4D"/>
          </a:solidFill>
          <a:ln/>
          <a:effectLst>
            <a:outerShdw sx="100000" sy="100000" kx="0" ky="0" algn="bl" rotWithShape="0" blurRad="76200" dist="25400" dir="5400000">
              <a:srgbClr val="AEB9BD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946904" y="1517904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Capture</a:t>
            </a:r>
            <a:endParaRPr lang="en-US" sz="14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B9C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gift kit → form → CRM, tagged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702552" y="1371600"/>
            <a:ext cx="274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88888"/>
                </a:solidFill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949440" y="1371600"/>
            <a:ext cx="1920240" cy="1188720"/>
          </a:xfrm>
          <a:prstGeom prst="roundRect">
            <a:avLst>
              <a:gd name="adj" fmla="val 6923"/>
            </a:avLst>
          </a:prstGeom>
          <a:solidFill>
            <a:srgbClr val="C08A2E"/>
          </a:solidFill>
          <a:ln/>
          <a:effectLst>
            <a:outerShdw sx="100000" sy="100000" kx="0" ky="0" algn="bl" rotWithShape="0" blurRad="76200" dist="25400" dir="5400000">
              <a:srgbClr val="AEB9BD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095744" y="1517904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Retro</a:t>
            </a:r>
            <a:endParaRPr lang="en-US" sz="14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session's transcript → v2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02920" y="306324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talk — the deck, the gifts, the follow-up you're about to get —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344728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produced by the prompt in your inbox.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02920" y="425196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transcript of this session feeds the next revision. The loop is the product.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A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gifts. One field. Your choice.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2606040" cy="1737360"/>
          </a:xfrm>
          <a:prstGeom prst="roundRect">
            <a:avLst>
              <a:gd name="adj" fmla="val 4737"/>
            </a:avLst>
          </a:prstGeom>
          <a:solidFill>
            <a:srgbClr val="16303F"/>
          </a:solidFill>
          <a:ln w="15875">
            <a:solidFill>
              <a:srgbClr val="C08A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517904"/>
            <a:ext cx="2240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spc="200" kern="0" dirty="0">
                <a:solidFill>
                  <a:srgbClr val="C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Proof-to-Pipeline — the parameterized prompt that produced this talk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474720" y="1325880"/>
            <a:ext cx="2606040" cy="1737360"/>
          </a:xfrm>
          <a:prstGeom prst="roundRect">
            <a:avLst>
              <a:gd name="adj" fmla="val 4737"/>
            </a:avLst>
          </a:prstGeom>
          <a:solidFill>
            <a:srgbClr val="16303F"/>
          </a:solidFill>
          <a:ln w="15875">
            <a:solidFill>
              <a:srgbClr val="C08A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0" y="1517904"/>
            <a:ext cx="2240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spc="200" kern="0" dirty="0">
                <a:solidFill>
                  <a:srgbClr val="C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 Listening Report — the sanitized production skill, judgment rules intact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0" y="1325880"/>
            <a:ext cx="210312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0" y="1325880"/>
            <a:ext cx="21031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(form link —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chat)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33101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or email — whichever you prefer. </a:t>
            </a:r>
            <a:pPr algn="ctr" indent="0" marL="0">
              <a:buNone/>
            </a:pPr>
            <a:r>
              <a:rPr lang="en-US" sz="1500" dirty="0">
                <a:solidFill>
                  <a:srgbClr val="B9C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kit arrives within the hour.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B9C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take a small number of fractional engagements for organizations in transition — if you have one, or know one: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7200" y="427939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C08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scheduler.zoom.us/paul-halvorson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457200" y="4773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 Halvorson · TRIAD Synergy · DrPaul@TriadSynergy.com · Purpose Driven Action for Business and Community Leaders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2026-08-15T10:40:04Z</dcterms:created>
  <dcterms:modified xsi:type="dcterms:W3CDTF">2026-08-15T10:40:04Z</dcterms:modified>
</cp:coreProperties>
</file>