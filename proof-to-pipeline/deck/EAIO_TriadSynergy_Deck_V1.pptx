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0:00–0:30. I'm going to show you a real engagement, the agent that runs part of it, and then give you both the method and the agent to take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0:30–2:00. The 60-second self-contained story. Founded 1977, inter-spiritual retreat community. Property sale closes a chapter; nobody owns the ending. This is a FORENSIC engagement: start from nothing, rebuild the record, then run the goodbye with intention.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2:00–3:00. This is the map for the next three slides — watch the key in the corner. The framework is the brand and the brand is the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3:00–4:30. Mailing-list archaeology: exports, spreadsheets, paper fragments to one verified master. The segmentation matters: consent-first outreach to the unknown 1,984 — respect encoded in data structure. Work shown in ARC's own branding where screenshots appear.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4:30–6:00. Fill the box Friday morning from the ALF run. Say it plainly: 'These numbers are from last night's circle — my agent briefed me this morning.' Pause one beat.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6:00–7:30. Technical meat for this room. Fallback-first design: assume the API fails, label data freshness. Human-in-the-loop by contract, not accident. This exact agent — sanitized — is in the 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7:30–8:30. The I of the triad: leadership through an ending. Name the fund amount verbally ONLY if Board Chair consent covers it; the slide stays general. Land the positioning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8:30–9:30. The meta moment — deliver plainly, no flourish. One beat after 'in your inbox.'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9:30–10:00. DROP THE FORM LINK IN ZOOM CHAT NOW. One availability line, no pitch, no price. Then: 'Questions — let's go.'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24528" y="56692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950208" y="932688"/>
            <a:ext cx="310896" cy="310896"/>
          </a:xfrm>
          <a:prstGeom prst="ellipse">
            <a:avLst/>
          </a:prstGeom>
          <a:solidFill>
            <a:srgbClr val="2E6E6E"/>
          </a:solidFill>
          <a:ln/>
        </p:spPr>
      </p:sp>
      <p:sp>
        <p:nvSpPr>
          <p:cNvPr id="4" name="Shape 2"/>
          <p:cNvSpPr/>
          <p:nvPr/>
        </p:nvSpPr>
        <p:spPr>
          <a:xfrm>
            <a:off x="4498848" y="932688"/>
            <a:ext cx="310896" cy="310896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727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FROM NOTHING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395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a 50-year organization well — with AI in the loop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39136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Halvorson  ·  TRIAD Synergy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Driven Action for Business and Community Leaders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Consulting · Elite AI Operators · August 21,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call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182880" cy="182880"/>
          </a:xfrm>
          <a:prstGeom prst="ellipse">
            <a:avLst/>
          </a:prstGeom>
          <a:solidFill>
            <a:srgbClr val="1F3A4D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10058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2025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sold. Retreat center goes dark.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3796" y="1389888"/>
            <a:ext cx="0" cy="566928"/>
          </a:xfrm>
          <a:prstGeom prst="line">
            <a:avLst/>
          </a:prstGeom>
          <a:noFill/>
          <a:ln w="19050">
            <a:solidFill>
              <a:srgbClr val="C7D2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66544"/>
            <a:ext cx="182880" cy="182880"/>
          </a:xfrm>
          <a:prstGeom prst="ellipse">
            <a:avLst/>
          </a:prstGeom>
          <a:solidFill>
            <a:srgbClr val="1F3A4D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90195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season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Director and staff depart.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3796" y="2286000"/>
            <a:ext cx="0" cy="566928"/>
          </a:xfrm>
          <a:prstGeom prst="line">
            <a:avLst/>
          </a:prstGeom>
          <a:noFill/>
          <a:ln w="19050">
            <a:solidFill>
              <a:srgbClr val="C7D2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962656"/>
            <a:ext cx="182880" cy="182880"/>
          </a:xfrm>
          <a:prstGeom prst="ellipse">
            <a:avLst/>
          </a:prstGeom>
          <a:solidFill>
            <a:srgbClr val="1F3A4D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79806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left on paper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succession plan. No operating playbook.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3796" y="3182112"/>
            <a:ext cx="0" cy="566928"/>
          </a:xfrm>
          <a:prstGeom prst="line">
            <a:avLst/>
          </a:prstGeom>
          <a:noFill/>
          <a:ln w="19050">
            <a:solidFill>
              <a:srgbClr val="C7D2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3858768"/>
            <a:ext cx="182880" cy="182880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3694176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remains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five-person board — and no map.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57800" y="1234440"/>
            <a:ext cx="3429000" cy="3017520"/>
          </a:xfrm>
          <a:prstGeom prst="roundRect">
            <a:avLst>
              <a:gd name="adj" fmla="val 2727"/>
            </a:avLst>
          </a:prstGeom>
          <a:solidFill>
            <a:srgbClr val="1F3A4D"/>
          </a:solidFill>
          <a:ln/>
          <a:effectLst>
            <a:outerShdw sx="100000" sy="100000" kx="0" ky="0" algn="bl" rotWithShape="0" blurRad="101600" dist="38100" dir="5400000">
              <a:srgbClr val="9AA7AE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40680" y="160020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remained: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relationships —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nowhere in one place.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45902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job: reconstruct the organization's memory — then help it end well, on purpose.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method: I · We ·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90472" y="1417320"/>
            <a:ext cx="768096" cy="768096"/>
          </a:xfrm>
          <a:prstGeom prst="ellipse">
            <a:avLst/>
          </a:prstGeom>
          <a:solidFill>
            <a:srgbClr val="1F3A4D"/>
          </a:solidFill>
          <a:ln/>
        </p:spPr>
      </p:sp>
      <p:sp>
        <p:nvSpPr>
          <p:cNvPr id="4" name="Shape 2"/>
          <p:cNvSpPr/>
          <p:nvPr/>
        </p:nvSpPr>
        <p:spPr>
          <a:xfrm>
            <a:off x="576072" y="3017520"/>
            <a:ext cx="768096" cy="768096"/>
          </a:xfrm>
          <a:prstGeom prst="ellipse">
            <a:avLst/>
          </a:prstGeom>
          <a:solidFill>
            <a:srgbClr val="2E6E6E"/>
          </a:solidFill>
          <a:ln/>
        </p:spPr>
      </p:sp>
      <p:sp>
        <p:nvSpPr>
          <p:cNvPr id="5" name="Shape 3"/>
          <p:cNvSpPr/>
          <p:nvPr/>
        </p:nvSpPr>
        <p:spPr>
          <a:xfrm>
            <a:off x="2404872" y="3017520"/>
            <a:ext cx="768096" cy="768096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6" name="Text 4"/>
          <p:cNvSpPr/>
          <p:nvPr/>
        </p:nvSpPr>
        <p:spPr>
          <a:xfrm>
            <a:off x="1490472" y="14173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76072" y="30175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404872" y="30175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307592" y="2130552"/>
            <a:ext cx="-256032" cy="841248"/>
          </a:xfrm>
          <a:prstGeom prst="line">
            <a:avLst/>
          </a:prstGeom>
          <a:noFill/>
          <a:ln w="22225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41448" y="2130552"/>
            <a:ext cx="256032" cy="841248"/>
          </a:xfrm>
          <a:prstGeom prst="line">
            <a:avLst/>
          </a:prstGeom>
          <a:noFill/>
          <a:ln w="22225">
            <a:solidFill>
              <a:srgbClr val="888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99032" y="3401568"/>
            <a:ext cx="950976" cy="0"/>
          </a:xfrm>
          <a:prstGeom prst="line">
            <a:avLst/>
          </a:prstGeom>
          <a:noFill/>
          <a:ln w="22225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77640" y="1344168"/>
            <a:ext cx="274320" cy="274320"/>
          </a:xfrm>
          <a:prstGeom prst="ellipse">
            <a:avLst/>
          </a:prstGeom>
          <a:solidFill>
            <a:srgbClr val="1F3A4D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120700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the leader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Succession, identity, letting go. Someone has to own the ending.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977640" y="2331720"/>
            <a:ext cx="274320" cy="274320"/>
          </a:xfrm>
          <a:prstGeom prst="ellipse">
            <a:avLst/>
          </a:prstGeom>
          <a:solidFill>
            <a:srgbClr val="2E6E6E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21945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2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— the community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heard before goodbye. Listening as infrastructure, not sentiment.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3977640" y="3319272"/>
            <a:ext cx="274320" cy="274320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318211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— the systems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money, tech. Institutional memory is a systems problem.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02920" y="45902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fail when you optimize one dimension and neglect the other two.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— forensic reconstruction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403336" y="82296"/>
            <a:ext cx="164592" cy="164592"/>
          </a:xfrm>
          <a:prstGeom prst="ellipse">
            <a:avLst/>
          </a:prstGeom>
          <a:solidFill>
            <a:srgbClr val="1F3A4D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12409" y="411480"/>
            <a:ext cx="164592" cy="164592"/>
          </a:xfrm>
          <a:prstGeom prst="ellipse">
            <a:avLst/>
          </a:prstGeom>
          <a:solidFill>
            <a:srgbClr val="2E6E6E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53115" y="370332"/>
            <a:ext cx="246888" cy="246888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6" name="Text 4"/>
          <p:cNvSpPr/>
          <p:nvPr/>
        </p:nvSpPr>
        <p:spPr>
          <a:xfrm>
            <a:off x="8028432" y="6583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1389888" cy="603504"/>
          </a:xfrm>
          <a:prstGeom prst="roundRect">
            <a:avLst>
              <a:gd name="adj" fmla="val 10606"/>
            </a:avLst>
          </a:prstGeom>
          <a:solidFill>
            <a:srgbClr val="EEF3F4"/>
          </a:solidFill>
          <a:ln w="12700">
            <a:solidFill>
              <a:srgbClr val="CBD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874520" y="118872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30552" y="1188720"/>
            <a:ext cx="1389888" cy="603504"/>
          </a:xfrm>
          <a:prstGeom prst="roundRect">
            <a:avLst>
              <a:gd name="adj" fmla="val 10606"/>
            </a:avLst>
          </a:prstGeom>
          <a:solidFill>
            <a:srgbClr val="EEF3F4"/>
          </a:solidFill>
          <a:ln w="12700">
            <a:solidFill>
              <a:srgbClr val="CBD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0552" y="1188720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+ verify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02152" y="118872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58184" y="1188720"/>
            <a:ext cx="1389888" cy="603504"/>
          </a:xfrm>
          <a:prstGeom prst="roundRect">
            <a:avLst>
              <a:gd name="adj" fmla="val 10606"/>
            </a:avLst>
          </a:prstGeom>
          <a:solidFill>
            <a:srgbClr val="EEF3F4"/>
          </a:solidFill>
          <a:ln w="12700">
            <a:solidFill>
              <a:srgbClr val="CBD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1188720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review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129784" y="118872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85816" y="1188720"/>
            <a:ext cx="1389888" cy="603504"/>
          </a:xfrm>
          <a:prstGeom prst="roundRect">
            <a:avLst>
              <a:gd name="adj" fmla="val 10606"/>
            </a:avLst>
          </a:prstGeom>
          <a:solidFill>
            <a:srgbClr val="EEF3F4"/>
          </a:solidFill>
          <a:ln w="12700">
            <a:solidFill>
              <a:srgbClr val="CBD8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85816" y="1188720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57416" y="118872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13448" y="1188720"/>
            <a:ext cx="1389888" cy="603504"/>
          </a:xfrm>
          <a:prstGeom prst="roundRect">
            <a:avLst>
              <a:gd name="adj" fmla="val 10606"/>
            </a:avLst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13448" y="1188720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V5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21488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EEF3F4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28600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~2,400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reconstructed into one verified master list (V1→V5)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3291840" y="21488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EEF3F4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228600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472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opt-in supporters, imported with provenance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6080760" y="21488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EEF3F4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28600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1,984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unknown-connection contacts, segmented for consent-first outreach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502920" y="39776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the operating layer nobody had: </a:t>
            </a:r>
            <a:pPr indent="0" marL="0">
              <a:buNone/>
            </a:pPr>
            <a:r>
              <a:rPr lang="en-US" sz="135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tech stack, new website, email infrastructure, donation rails.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2920" y="45902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memory is a data problem before it is a story problem.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— the Season of Listening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403336" y="82296"/>
            <a:ext cx="164592" cy="164592"/>
          </a:xfrm>
          <a:prstGeom prst="ellipse">
            <a:avLst/>
          </a:prstGeom>
          <a:solidFill>
            <a:srgbClr val="1F3A4D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71261" y="370332"/>
            <a:ext cx="246888" cy="246888"/>
          </a:xfrm>
          <a:prstGeom prst="ellipse">
            <a:avLst/>
          </a:prstGeom>
          <a:solidFill>
            <a:srgbClr val="2E6E6E"/>
          </a:solidFill>
          <a:ln/>
        </p:spPr>
      </p:sp>
      <p:sp>
        <p:nvSpPr>
          <p:cNvPr id="5" name="Shape 3"/>
          <p:cNvSpPr/>
          <p:nvPr/>
        </p:nvSpPr>
        <p:spPr>
          <a:xfrm>
            <a:off x="8594263" y="411480"/>
            <a:ext cx="164592" cy="164592"/>
          </a:xfrm>
          <a:prstGeom prst="ellipse">
            <a:avLst/>
          </a:prstGeom>
          <a:solidFill>
            <a:srgbClr val="C08A2E">
              <a:alpha val="3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028432" y="6583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162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2,436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launch emails delivered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258568" y="1115568"/>
            <a:ext cx="162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97.95%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rate on a rebuilt list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014216" y="1115568"/>
            <a:ext cx="162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31.5%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— sector average is ~28.6%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02920" y="2487168"/>
            <a:ext cx="2377440" cy="384048"/>
          </a:xfrm>
          <a:prstGeom prst="rect">
            <a:avLst/>
          </a:prstGeom>
          <a:solidFill>
            <a:srgbClr val="2E6E6E"/>
          </a:solidFill>
          <a:ln w="9525">
            <a:solidFill>
              <a:srgbClr val="D5DF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48716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80360" y="2487168"/>
            <a:ext cx="868680" cy="384048"/>
          </a:xfrm>
          <a:prstGeom prst="rect">
            <a:avLst/>
          </a:prstGeom>
          <a:solidFill>
            <a:srgbClr val="2E6E6E"/>
          </a:solidFill>
          <a:ln w="9525">
            <a:solidFill>
              <a:srgbClr val="D5DF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2487168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2487168"/>
            <a:ext cx="868680" cy="384048"/>
          </a:xfrm>
          <a:prstGeom prst="rect">
            <a:avLst/>
          </a:prstGeom>
          <a:solidFill>
            <a:srgbClr val="2E6E6E"/>
          </a:solidFill>
          <a:ln w="9525">
            <a:solidFill>
              <a:srgbClr val="D5DF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2487168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487168"/>
            <a:ext cx="868680" cy="384048"/>
          </a:xfrm>
          <a:prstGeom prst="rect">
            <a:avLst/>
          </a:prstGeom>
          <a:solidFill>
            <a:srgbClr val="2E6E6E"/>
          </a:solidFill>
          <a:ln w="9525">
            <a:solidFill>
              <a:srgbClr val="D5DF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2487168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871216"/>
            <a:ext cx="2377440" cy="384048"/>
          </a:xfrm>
          <a:prstGeom prst="rect">
            <a:avLst/>
          </a:prstGeom>
          <a:solidFill>
            <a:srgbClr val="EEF3F4"/>
          </a:solidFill>
          <a:ln w="9525">
            <a:solidFill>
              <a:srgbClr val="D5DF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287121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80360" y="2871216"/>
            <a:ext cx="868680" cy="384048"/>
          </a:xfrm>
          <a:prstGeom prst="rect">
            <a:avLst/>
          </a:prstGeom>
          <a:solidFill>
            <a:srgbClr val="EEF3F4"/>
          </a:solidFill>
          <a:ln w="9525">
            <a:solidFill>
              <a:srgbClr val="D5DF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53512" y="2871216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49040" y="2871216"/>
            <a:ext cx="868680" cy="384048"/>
          </a:xfrm>
          <a:prstGeom prst="rect">
            <a:avLst/>
          </a:prstGeom>
          <a:solidFill>
            <a:srgbClr val="EEF3F4"/>
          </a:solidFill>
          <a:ln w="9525">
            <a:solidFill>
              <a:srgbClr val="D5DF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22192" y="2871216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2871216"/>
            <a:ext cx="868680" cy="384048"/>
          </a:xfrm>
          <a:prstGeom prst="rect">
            <a:avLst/>
          </a:prstGeom>
          <a:solidFill>
            <a:srgbClr val="EEF3F4"/>
          </a:solidFill>
          <a:ln w="9525">
            <a:solidFill>
              <a:srgbClr val="D5DF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2871216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255264"/>
            <a:ext cx="2377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F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3255264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RSVPs (each)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80360" y="3255264"/>
            <a:ext cx="868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F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53512" y="3255264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749040" y="3255264"/>
            <a:ext cx="868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F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22192" y="3255264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17720" y="3255264"/>
            <a:ext cx="868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F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90872" y="3255264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3639312"/>
            <a:ext cx="2377440" cy="384048"/>
          </a:xfrm>
          <a:prstGeom prst="rect">
            <a:avLst/>
          </a:prstGeom>
          <a:solidFill>
            <a:srgbClr val="EEF3F4"/>
          </a:solidFill>
          <a:ln w="9525">
            <a:solidFill>
              <a:srgbClr val="D5DF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36393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Story-archive gifts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80360" y="3639312"/>
            <a:ext cx="868680" cy="384048"/>
          </a:xfrm>
          <a:prstGeom prst="rect">
            <a:avLst/>
          </a:prstGeom>
          <a:solidFill>
            <a:srgbClr val="EEF3F4"/>
          </a:solidFill>
          <a:ln w="9525">
            <a:solidFill>
              <a:srgbClr val="D5DF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53512" y="3639312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749040" y="3639312"/>
            <a:ext cx="868680" cy="384048"/>
          </a:xfrm>
          <a:prstGeom prst="rect">
            <a:avLst/>
          </a:prstGeom>
          <a:solidFill>
            <a:srgbClr val="EEF3F4"/>
          </a:solidFill>
          <a:ln w="9525">
            <a:solidFill>
              <a:srgbClr val="D5DF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22192" y="3639312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17720" y="3639312"/>
            <a:ext cx="868680" cy="384048"/>
          </a:xfrm>
          <a:prstGeom prst="rect">
            <a:avLst/>
          </a:prstGeom>
          <a:solidFill>
            <a:srgbClr val="EEF3F4"/>
          </a:solidFill>
          <a:ln w="9525">
            <a:solidFill>
              <a:srgbClr val="D5DF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90872" y="3639312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" y="42245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Circles · community survey · story archive — a goodbye run on a scorecard.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806440" y="1115568"/>
            <a:ext cx="2880360" cy="3291840"/>
          </a:xfrm>
          <a:prstGeom prst="roundRect">
            <a:avLst>
              <a:gd name="adj" fmla="val 2857"/>
            </a:avLst>
          </a:prstGeom>
          <a:solidFill>
            <a:srgbClr val="1F3A4D"/>
          </a:solidFill>
          <a:ln/>
          <a:effectLst>
            <a:outerShdw sx="100000" sy="100000" kx="0" ky="0" algn="bl" rotWithShape="0" blurRad="101600" dist="38100" dir="5400000">
              <a:srgbClr val="9AA7AE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989320" y="1325880"/>
            <a:ext cx="2514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7BC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— agent run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 AUG 21 · 8:00 AM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C08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FRESH NUMBERS ]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filled morning-of from the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report agent —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including last night's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Listening Circle (Aug 20).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agent: a daily report with judgment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70432"/>
            <a:ext cx="2514600" cy="512064"/>
          </a:xfrm>
          <a:prstGeom prst="roundRect">
            <a:avLst>
              <a:gd name="adj" fmla="val 12500"/>
            </a:avLst>
          </a:prstGeom>
          <a:solidFill>
            <a:srgbClr val="2C4B6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7043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 sheet (live)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017520" y="1426464"/>
            <a:ext cx="457200" cy="1426464"/>
          </a:xfrm>
          <a:prstGeom prst="line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502920" y="1828800"/>
            <a:ext cx="2514600" cy="512064"/>
          </a:xfrm>
          <a:prstGeom prst="roundRect">
            <a:avLst>
              <a:gd name="adj" fmla="val 12500"/>
            </a:avLst>
          </a:prstGeom>
          <a:solidFill>
            <a:srgbClr val="2C4B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sheet (live)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17520" y="2084832"/>
            <a:ext cx="457200" cy="768096"/>
          </a:xfrm>
          <a:prstGeom prst="line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502920" y="2487168"/>
            <a:ext cx="2514600" cy="512064"/>
          </a:xfrm>
          <a:prstGeom prst="roundRect">
            <a:avLst>
              <a:gd name="adj" fmla="val 12500"/>
            </a:avLst>
          </a:prstGeom>
          <a:solidFill>
            <a:srgbClr val="2C4B6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8716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Human-only stream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17520" y="2743200"/>
            <a:ext cx="457200" cy="-548640"/>
          </a:xfrm>
          <a:prstGeom prst="line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502920" y="3145536"/>
            <a:ext cx="2514600" cy="512064"/>
          </a:xfrm>
          <a:prstGeom prst="roundRect">
            <a:avLst>
              <a:gd name="adj" fmla="val 12500"/>
            </a:avLst>
          </a:prstGeom>
          <a:solidFill>
            <a:srgbClr val="2C4B6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4553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stats (fallback-first)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017520" y="3401568"/>
            <a:ext cx="457200" cy="-2523744"/>
          </a:xfrm>
          <a:prstGeom prst="line">
            <a:avLst/>
          </a:prstGeom>
          <a:noFill/>
          <a:ln/>
        </p:spPr>
      </p:sp>
      <p:sp>
        <p:nvSpPr>
          <p:cNvPr id="15" name="Text 13"/>
          <p:cNvSpPr/>
          <p:nvPr/>
        </p:nvSpPr>
        <p:spPr>
          <a:xfrm>
            <a:off x="3035808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08A2E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520440" y="1170432"/>
            <a:ext cx="2651760" cy="749808"/>
          </a:xfrm>
          <a:prstGeom prst="roundRect">
            <a:avLst>
              <a:gd name="adj" fmla="val 8537"/>
            </a:avLst>
          </a:prstGeom>
          <a:solidFill>
            <a:srgbClr val="16303F"/>
          </a:solidFill>
          <a:ln w="12700">
            <a:solidFill>
              <a:srgbClr val="3E5B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1243584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/ target / stretch, pace not totals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20440" y="2066544"/>
            <a:ext cx="2651760" cy="749808"/>
          </a:xfrm>
          <a:prstGeom prst="roundRect">
            <a:avLst>
              <a:gd name="adj" fmla="val 8537"/>
            </a:avLst>
          </a:prstGeom>
          <a:solidFill>
            <a:srgbClr val="16303F"/>
          </a:solidFill>
          <a:ln w="12700">
            <a:solidFill>
              <a:srgbClr val="3E5B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139696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flags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forward until a human clears them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20440" y="2962656"/>
            <a:ext cx="2651760" cy="749808"/>
          </a:xfrm>
          <a:prstGeom prst="roundRect">
            <a:avLst>
              <a:gd name="adj" fmla="val 8537"/>
            </a:avLst>
          </a:prstGeom>
          <a:solidFill>
            <a:srgbClr val="16303F"/>
          </a:solidFill>
          <a:ln w="12700">
            <a:solidFill>
              <a:srgbClr val="3E5B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303580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ghost-written in the client lead's own voice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1170432"/>
            <a:ext cx="2240280" cy="2688336"/>
          </a:xfrm>
          <a:prstGeom prst="roundRect">
            <a:avLst>
              <a:gd name="adj" fmla="val 3673"/>
            </a:avLst>
          </a:prstGeom>
          <a:solidFill>
            <a:srgbClr val="C08A2E"/>
          </a:solidFill>
          <a:ln/>
        </p:spPr>
      </p:sp>
      <p:sp>
        <p:nvSpPr>
          <p:cNvPr id="23" name="Text 21"/>
          <p:cNvSpPr/>
          <p:nvPr/>
        </p:nvSpPr>
        <p:spPr>
          <a:xfrm>
            <a:off x="6565392" y="1325880"/>
            <a:ext cx="1920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HONESTY RULES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“Never claim a run happened unattended.”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“Surface discrepancies; never resolve them silently.”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“Count the community, not the insiders.”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42976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isn't the automation — it's the judgment encoded as rules. That's what makes a grieving board trust an agent.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— ending well, forward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362188" y="41148"/>
            <a:ext cx="246888" cy="246888"/>
          </a:xfrm>
          <a:prstGeom prst="ellipse">
            <a:avLst/>
          </a:prstGeom>
          <a:solidFill>
            <a:srgbClr val="1F3A4D"/>
          </a:solidFill>
          <a:ln/>
        </p:spPr>
      </p:sp>
      <p:sp>
        <p:nvSpPr>
          <p:cNvPr id="4" name="Shape 2"/>
          <p:cNvSpPr/>
          <p:nvPr/>
        </p:nvSpPr>
        <p:spPr>
          <a:xfrm>
            <a:off x="8212409" y="411480"/>
            <a:ext cx="164592" cy="164592"/>
          </a:xfrm>
          <a:prstGeom prst="ellipse">
            <a:avLst/>
          </a:prstGeom>
          <a:solidFill>
            <a:srgbClr val="2E6E6E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94263" y="411480"/>
            <a:ext cx="164592" cy="164592"/>
          </a:xfrm>
          <a:prstGeom prst="ellipse">
            <a:avLst/>
          </a:prstGeom>
          <a:solidFill>
            <a:srgbClr val="C08A2E">
              <a:alpha val="3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028432" y="6583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F3A4D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88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143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ending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owned. Dissolution run with dignity, on a schedule.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02920" y="226771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F3A4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22199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legacy fund distributing the remaining assets to mission-aligned partners — the community's story continues past the org.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02920" y="3346704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F3A4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46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3300984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repeatable work: transition · turnaround · succession, for small nonprofits, businesses, and public agencies.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2920" y="45262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consultants sell beginnings. Almost nobody owns endings — and every organization has one.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protocol: Proof-to-Pipeline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920240" cy="1188720"/>
          </a:xfrm>
          <a:prstGeom prst="roundRect">
            <a:avLst>
              <a:gd name="adj" fmla="val 6923"/>
            </a:avLst>
          </a:prstGeom>
          <a:solidFill>
            <a:srgbClr val="1F3A4D"/>
          </a:solidFill>
          <a:ln/>
          <a:effectLst>
            <a:outerShdw sx="100000" sy="100000" kx="0" ky="0" algn="bl" rotWithShape="0" blurRad="76200" dist="25400" dir="5400000">
              <a:srgbClr val="AEB9BD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9224" y="1517904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Interview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 + 5, one at a time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2404872" y="1371600"/>
            <a:ext cx="274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651760" y="1371600"/>
            <a:ext cx="1920240" cy="1188720"/>
          </a:xfrm>
          <a:prstGeom prst="roundRect">
            <a:avLst>
              <a:gd name="adj" fmla="val 6923"/>
            </a:avLst>
          </a:prstGeom>
          <a:solidFill>
            <a:srgbClr val="1F3A4D"/>
          </a:solidFill>
          <a:ln/>
          <a:effectLst>
            <a:outerShdw sx="100000" sy="100000" kx="0" ky="0" algn="bl" rotWithShape="0" blurRad="76200" dist="25400" dir="5400000">
              <a:srgbClr val="AEB9BD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98064" y="1517904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Build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· promo · a working agent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53712" y="1371600"/>
            <a:ext cx="274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00600" y="1371600"/>
            <a:ext cx="1920240" cy="1188720"/>
          </a:xfrm>
          <a:prstGeom prst="roundRect">
            <a:avLst>
              <a:gd name="adj" fmla="val 6923"/>
            </a:avLst>
          </a:prstGeom>
          <a:solidFill>
            <a:srgbClr val="1F3A4D"/>
          </a:solidFill>
          <a:ln/>
          <a:effectLst>
            <a:outerShdw sx="100000" sy="100000" kx="0" ky="0" algn="bl" rotWithShape="0" blurRad="76200" dist="25400" dir="5400000">
              <a:srgbClr val="AEB9BD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46904" y="1517904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Capture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kit → form → CRM, tagged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702552" y="1371600"/>
            <a:ext cx="274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49440" y="1371600"/>
            <a:ext cx="1920240" cy="1188720"/>
          </a:xfrm>
          <a:prstGeom prst="roundRect">
            <a:avLst>
              <a:gd name="adj" fmla="val 6923"/>
            </a:avLst>
          </a:prstGeom>
          <a:solidFill>
            <a:srgbClr val="C08A2E"/>
          </a:solidFill>
          <a:ln/>
          <a:effectLst>
            <a:outerShdw sx="100000" sy="100000" kx="0" ky="0" algn="bl" rotWithShape="0" blurRad="76200" dist="25400" dir="5400000">
              <a:srgbClr val="AEB9BD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95744" y="1517904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Retro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session's transcript → v2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02920" y="30632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talk — the deck, the gifts, the follow-up you're about to get 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34472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produced by the prompt in your inbox.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2920" y="42519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transcript of this session feeds the next revision. The loop is the product.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gifts. One field. Your choice.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16303F"/>
          </a:solidFill>
          <a:ln w="15875">
            <a:solidFill>
              <a:srgbClr val="C0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17904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Proof-to-Pipeline — the parameterized prompt that produced this talk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0" y="13258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16303F"/>
          </a:solidFill>
          <a:ln w="15875">
            <a:solidFill>
              <a:srgbClr val="C08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1517904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Listening Report — the sanitized production skill, judgment rules intact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21031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agnt-neo/proof-to-pipeline/deck/form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48" y="1371600"/>
            <a:ext cx="1645920" cy="1645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3101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or email — whichever you prefer. </a:t>
            </a:r>
            <a:pPr algn="ctr" indent="0" marL="0">
              <a:buNone/>
            </a:pPr>
            <a:r>
              <a:rPr lang="en-US" sz="1500" dirty="0">
                <a:solidFill>
                  <a:srgbClr val="B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 arrives within the hour.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take a small number of fractional engagements for organizations in transition — if you have one, or know one: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42793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scheduler.zoom.us/paul-halvorson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Halvorson · TRIAD Synergy · DrPaul@TriadSynergy.com · Purpose Driven Action for Business and Community Leaders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2026-08-15T11:25:22Z</dcterms:created>
  <dcterms:modified xsi:type="dcterms:W3CDTF">2026-08-15T11:25:22Z</dcterms:modified>
</cp:coreProperties>
</file>