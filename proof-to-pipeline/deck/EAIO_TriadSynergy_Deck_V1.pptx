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0:00–0:30. I'm going to show you a real engagement, the agent that runs part of it, and then give you both the method and the agent to take home.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0:30–2:00. The 60-second self-contained story. Founded 1977, inter-spiritual retreat community. Property sale closes a chapter; nobody owns the ending. This is a FORENSIC engagement: start from nothing, rebuild the record, then run the goodbye with intention.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per Paul's Aug 15 edits. ⚠️ The $400,000 figure needs Mike Tessneer's written consent (due Tue Aug 18) — strike it if consent doesn't cover it. Sunset date shown as Dec 2026 (feedback said Dec 2025; assumed typo — confirm).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2:00–3:00. This is the map for the next three slides — watch the Q1/Q2/Q3 key in the corner. Each question gets answered with real artifacts from the ARC engagement.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3:00–4:30. Mailing-list archaeology: exports, spreadsheets, paper fragments to one verified master. The segmentation matters: consent-first outreach to the unknown 1,984 — respect encoded in data structure. Work shown in ARC's own branding where screenshots appear.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4:30–6:00. Fill the box Friday morning from the ALF run. Say it plainly: 'These numbers are from last night's circle — my agent briefed me this morning.' Pause one beat.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6:00–7:30. Technical meat for this room. Fallback-first design: assume the API fails, label data freshness. Human-in-the-loop by contract, not accident. This exact agent — sanitized — is in the kit.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7:30–8:30. Q3 — leadership through an ending. The fund amount now appears on the mandate slide — remove it there if Mike's written consent (due Tue Aug 18) doesn't cover it; this slide stays general. Land the positioning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8:30–9:30. The meta moment — deliver plainly, no flourish. One beat after 'in your inbox.'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9:30–10:00. DROP THE FORM LINK IN ZOOM CHAT NOW. One availability line, no pitch, no price. Then: 'Questions — let's go.'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24528" y="566928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3950208" y="932688"/>
            <a:ext cx="310896" cy="310896"/>
          </a:xfrm>
          <a:prstGeom prst="ellipse">
            <a:avLst/>
          </a:prstGeom>
          <a:solidFill>
            <a:srgbClr val="2E6E6E"/>
          </a:solidFill>
          <a:ln/>
        </p:spPr>
      </p:sp>
      <p:sp>
        <p:nvSpPr>
          <p:cNvPr id="4" name="Shape 2"/>
          <p:cNvSpPr/>
          <p:nvPr/>
        </p:nvSpPr>
        <p:spPr>
          <a:xfrm>
            <a:off x="4498848" y="932688"/>
            <a:ext cx="310896" cy="310896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572768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STARTING FROM NOTHING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39572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 a 50-year organization well — with AI in the loop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457200" y="3913632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Halvorson  ·  TRIAD Synergy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9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Driven Action for Business and Community Leaders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8F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Consulting · Elite AI Operators · August 21, 2026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301752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B9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engagement — ARC Retreat Community · Stanchfield, MN · 501(c)(3) · arcretreat.org</a:t>
            </a:r>
            <a:endParaRPr lang="en-US" sz="11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F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1, 2026 → June 30, 2027 (14 months) · Paul ≈10 hrs/wk @ $3,000/mo</a:t>
            </a:r>
            <a:endParaRPr lang="en-US" sz="11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8F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Amy ≈10 hrs/wk — event facilitation, storytelling audio, written blogs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call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100584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2025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laid off.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53796" y="1389888"/>
            <a:ext cx="0" cy="566928"/>
          </a:xfrm>
          <a:prstGeom prst="line">
            <a:avLst/>
          </a:prstGeom>
          <a:noFill/>
          <a:ln w="19050">
            <a:solidFill>
              <a:srgbClr val="C7D2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066544"/>
            <a:ext cx="182880" cy="182880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1901952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2025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sold — 91 acres + buildings — to pay off debt. The retreat center goes dark.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53796" y="2286000"/>
            <a:ext cx="0" cy="566928"/>
          </a:xfrm>
          <a:prstGeom prst="line">
            <a:avLst/>
          </a:prstGeom>
          <a:noFill/>
          <a:ln w="19050">
            <a:solidFill>
              <a:srgbClr val="C7D2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" y="2962656"/>
            <a:ext cx="182880" cy="182880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10" name="Text 8"/>
          <p:cNvSpPr/>
          <p:nvPr/>
        </p:nvSpPr>
        <p:spPr>
          <a:xfrm>
            <a:off x="932688" y="2798064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December 2025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Director departs. No succession plan; no handover of records, mailing list, backups, or passwords.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53796" y="3182112"/>
            <a:ext cx="0" cy="566928"/>
          </a:xfrm>
          <a:prstGeom prst="line">
            <a:avLst/>
          </a:prstGeom>
          <a:noFill/>
          <a:ln w="19050">
            <a:solidFill>
              <a:srgbClr val="C7D2D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3858768"/>
            <a:ext cx="182880" cy="182880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932688" y="3694176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remains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five-person board — worn out by the sale, emotionally beat up.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257800" y="1234440"/>
            <a:ext cx="3429000" cy="3017520"/>
          </a:xfrm>
          <a:prstGeom prst="roundRect">
            <a:avLst>
              <a:gd name="adj" fmla="val 2727"/>
            </a:avLst>
          </a:prstGeom>
          <a:solidFill>
            <a:srgbClr val="1F3A4D"/>
          </a:solidFill>
          <a:ln/>
          <a:effectLst>
            <a:outerShdw sx="100000" sy="100000" kx="0" ky="0" algn="bl" rotWithShape="0" blurRad="101600" dist="38100" dir="5400000">
              <a:srgbClr val="9AA7AE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40680" y="1600200"/>
            <a:ext cx="30632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9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remained: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years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relationships —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nowhere in one place.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66928" y="459028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job: reconstruct the organization's memory — then help it end well, on purpose.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remains — and the mandate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6926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64592" cy="164592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" y="1243584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chair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the charge — brought in two part-time contractors.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2267712"/>
            <a:ext cx="164592" cy="164592"/>
          </a:xfrm>
          <a:prstGeom prst="ellipse">
            <a:avLst/>
          </a:prstGeom>
          <a:solidFill>
            <a:srgbClr val="2E6E6E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139696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· TRIAD Synergy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Records, systems, data, daily dashboards — and the sunset plan.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3163824"/>
            <a:ext cx="164592" cy="164592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3035808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A6E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Amy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Organizes and facilitates the listening sessions; turns the stories into oral and written histories published on the website.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26280" y="96926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MANDATE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26280" y="1271016"/>
            <a:ext cx="4114800" cy="804672"/>
          </a:xfrm>
          <a:prstGeom prst="roundRect">
            <a:avLst>
              <a:gd name="adj" fmla="val 7955"/>
            </a:avLst>
          </a:prstGeom>
          <a:solidFill>
            <a:srgbClr val="EEF3F4"/>
          </a:solidFill>
          <a:ln/>
        </p:spPr>
      </p:sp>
      <p:sp>
        <p:nvSpPr>
          <p:cNvPr id="12" name="Text 10"/>
          <p:cNvSpPr/>
          <p:nvPr/>
        </p:nvSpPr>
        <p:spPr>
          <a:xfrm>
            <a:off x="4645152" y="1271016"/>
            <a:ext cx="457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8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138928" y="1271016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a new fiscal agent and legally sunset the 501(c)(3) — by December 2026.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26280" y="2167128"/>
            <a:ext cx="4114800" cy="804672"/>
          </a:xfrm>
          <a:prstGeom prst="roundRect">
            <a:avLst>
              <a:gd name="adj" fmla="val 7955"/>
            </a:avLst>
          </a:prstGeom>
          <a:solidFill>
            <a:srgbClr val="EEF3F4"/>
          </a:solidFill>
          <a:ln/>
        </p:spPr>
      </p:sp>
      <p:sp>
        <p:nvSpPr>
          <p:cNvPr id="15" name="Text 13"/>
          <p:cNvSpPr/>
          <p:nvPr/>
        </p:nvSpPr>
        <p:spPr>
          <a:xfrm>
            <a:off x="4645152" y="2167128"/>
            <a:ext cx="457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8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138928" y="2167128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founder and three designated Stewards, decide how $400,000 is distributed to pay ARC's mission forward.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26280" y="3063240"/>
            <a:ext cx="4114800" cy="804672"/>
          </a:xfrm>
          <a:prstGeom prst="roundRect">
            <a:avLst>
              <a:gd name="adj" fmla="val 7955"/>
            </a:avLst>
          </a:prstGeom>
          <a:solidFill>
            <a:srgbClr val="EEF3F4"/>
          </a:solidFill>
          <a:ln/>
        </p:spPr>
      </p:sp>
      <p:sp>
        <p:nvSpPr>
          <p:cNvPr id="18" name="Text 16"/>
          <p:cNvSpPr/>
          <p:nvPr/>
        </p:nvSpPr>
        <p:spPr>
          <a:xfrm>
            <a:off x="4645152" y="3063240"/>
            <a:ext cx="457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8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138928" y="3063240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celebration event, June 2027 — the final act.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4041648"/>
            <a:ext cx="8138160" cy="914400"/>
          </a:xfrm>
          <a:prstGeom prst="roundRect">
            <a:avLst>
              <a:gd name="adj" fmla="val 9000"/>
            </a:avLst>
          </a:prstGeom>
          <a:solidFill>
            <a:srgbClr val="1F3A4D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4041648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011680" y="4114800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Daily dashboard to Paul, Amy, and the board chair through August.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Findings + recommendations from the listening sessions and community survey.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60-day legal sunset &amp; dissolution plan — cash assets to a fiscal agent, managed by the 3-person stewardship group with the founder.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questions every ending must answer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143000"/>
            <a:ext cx="81381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5DFE1"/>
            </a:solidFill>
            <a:prstDash val="solid"/>
          </a:ln>
          <a:effectLst>
            <a:outerShdw sx="100000" sy="100000" kx="0" ky="0" algn="bl" rotWithShape="0" blurRad="76200" dist="25400" dir="5400000">
              <a:srgbClr val="AEB9BD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143000"/>
            <a:ext cx="777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691640" y="1271016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we actually have?</a:t>
            </a:r>
            <a:endParaRPr lang="en-US" sz="17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Records, money, tech, data — the institutional memory. Answered by forensic reconstruction.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02920" y="2221992"/>
            <a:ext cx="81381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5DFE1"/>
            </a:solidFill>
            <a:prstDash val="solid"/>
          </a:ln>
          <a:effectLst>
            <a:outerShdw sx="100000" sy="100000" kx="0" ky="0" algn="bl" rotWithShape="0" blurRad="76200" dist="25400" dir="5400000">
              <a:srgbClr val="AEB9BD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2221992"/>
            <a:ext cx="777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Q2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691640" y="2350008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deserves a goodbye?</a:t>
            </a:r>
            <a:endParaRPr lang="en-US" sz="17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community behind 50 years of relationships. Answered by the Season of Listening.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02920" y="3300984"/>
            <a:ext cx="81381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5DFE1"/>
            </a:solidFill>
            <a:prstDash val="solid"/>
          </a:ln>
          <a:effectLst>
            <a:outerShdw sx="100000" sy="100000" kx="0" ky="0" algn="bl" rotWithShape="0" blurRad="76200" dist="25400" dir="5400000">
              <a:srgbClr val="AEB9BD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3300984"/>
            <a:ext cx="777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Q3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691640" y="3429000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lives on?</a:t>
            </a:r>
            <a:endParaRPr lang="en-US" sz="17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mission, the stories, the assets. Answered by the legacy plan — and a celebration.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2920" y="45902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Transitions fail when you answer one question and skip the other two.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8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 we actually have?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726680" y="237744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C08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675120" y="64008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389888" cy="603504"/>
          </a:xfrm>
          <a:prstGeom prst="roundRect">
            <a:avLst>
              <a:gd name="adj" fmla="val 10606"/>
            </a:avLst>
          </a:prstGeom>
          <a:solidFill>
            <a:srgbClr val="EEF3F4"/>
          </a:solidFill>
          <a:ln w="12700">
            <a:solidFill>
              <a:srgbClr val="CBD8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274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→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130552" y="1188720"/>
            <a:ext cx="1389888" cy="603504"/>
          </a:xfrm>
          <a:prstGeom prst="roundRect">
            <a:avLst>
              <a:gd name="adj" fmla="val 10606"/>
            </a:avLst>
          </a:prstGeom>
          <a:solidFill>
            <a:srgbClr val="EEF3F4"/>
          </a:solidFill>
          <a:ln w="12700">
            <a:solidFill>
              <a:srgbClr val="CBD8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30552" y="1188720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+ verify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502152" y="1188720"/>
            <a:ext cx="274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58184" y="1188720"/>
            <a:ext cx="1389888" cy="603504"/>
          </a:xfrm>
          <a:prstGeom prst="roundRect">
            <a:avLst>
              <a:gd name="adj" fmla="val 10606"/>
            </a:avLst>
          </a:prstGeom>
          <a:solidFill>
            <a:srgbClr val="EEF3F4"/>
          </a:solidFill>
          <a:ln w="12700">
            <a:solidFill>
              <a:srgbClr val="CBD8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58184" y="1188720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Dedupe review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129784" y="1188720"/>
            <a:ext cx="274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385816" y="1188720"/>
            <a:ext cx="1389888" cy="603504"/>
          </a:xfrm>
          <a:prstGeom prst="roundRect">
            <a:avLst>
              <a:gd name="adj" fmla="val 10606"/>
            </a:avLst>
          </a:prstGeom>
          <a:solidFill>
            <a:srgbClr val="EEF3F4"/>
          </a:solidFill>
          <a:ln w="12700">
            <a:solidFill>
              <a:srgbClr val="CBD8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85816" y="1188720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757416" y="1188720"/>
            <a:ext cx="274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013448" y="1188720"/>
            <a:ext cx="1389888" cy="603504"/>
          </a:xfrm>
          <a:prstGeom prst="roundRect">
            <a:avLst>
              <a:gd name="adj" fmla="val 10606"/>
            </a:avLst>
          </a:prstGeom>
          <a:solidFill>
            <a:srgbClr val="C08A2E"/>
          </a:solidFill>
          <a:ln w="12700">
            <a:solidFill>
              <a:srgbClr val="C0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13448" y="1188720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V5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2148840"/>
            <a:ext cx="2606040" cy="1554480"/>
          </a:xfrm>
          <a:prstGeom prst="roundRect">
            <a:avLst>
              <a:gd name="adj" fmla="val 5294"/>
            </a:avLst>
          </a:prstGeom>
          <a:solidFill>
            <a:srgbClr val="EEF3F4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228600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~2,400</a:t>
            </a:r>
            <a:endParaRPr lang="en-US" sz="3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contacts reconstructed into one verified master list (V1→V5)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3291840" y="2148840"/>
            <a:ext cx="2606040" cy="1554480"/>
          </a:xfrm>
          <a:prstGeom prst="roundRect">
            <a:avLst>
              <a:gd name="adj" fmla="val 5294"/>
            </a:avLst>
          </a:prstGeom>
          <a:solidFill>
            <a:srgbClr val="EEF3F4"/>
          </a:solidFill>
          <a:ln/>
        </p:spPr>
      </p:sp>
      <p:sp>
        <p:nvSpPr>
          <p:cNvPr id="22" name="Text 20"/>
          <p:cNvSpPr/>
          <p:nvPr/>
        </p:nvSpPr>
        <p:spPr>
          <a:xfrm>
            <a:off x="3474720" y="228600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472</a:t>
            </a:r>
            <a:endParaRPr lang="en-US" sz="3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opt-in supporters, imported with provenance</a:t>
            </a:r>
            <a:endParaRPr lang="en-US" sz="3000" dirty="0"/>
          </a:p>
        </p:txBody>
      </p:sp>
      <p:sp>
        <p:nvSpPr>
          <p:cNvPr id="23" name="Shape 21"/>
          <p:cNvSpPr/>
          <p:nvPr/>
        </p:nvSpPr>
        <p:spPr>
          <a:xfrm>
            <a:off x="6080760" y="2148840"/>
            <a:ext cx="2606040" cy="1554480"/>
          </a:xfrm>
          <a:prstGeom prst="roundRect">
            <a:avLst>
              <a:gd name="adj" fmla="val 5294"/>
            </a:avLst>
          </a:prstGeom>
          <a:solidFill>
            <a:srgbClr val="EEF3F4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28600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1,984</a:t>
            </a:r>
            <a:endParaRPr lang="en-US" sz="3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unknown-connection contacts, segmented for consent-first outreach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502920" y="39776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the operating layer nobody had — </a:t>
            </a:r>
            <a:pPr indent="0" marL="0">
              <a:buNone/>
            </a:pPr>
            <a:r>
              <a:rPr lang="en-US" sz="125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Workspace · MailerLite · Claude Max · Stripe · Squarespace</a:t>
            </a:r>
            <a:pPr indent="0" marL="0">
              <a:buNone/>
            </a:pPr>
            <a:r>
              <a:rPr lang="en-US" sz="12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website, email, donation rails. Donations are still being received.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02920" y="45902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memory is a data problem before it is a story problem.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deserves a goodbye?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726680" y="237744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E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675120" y="64008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COMMUNITY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8412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Season of Listening's answer: former retreatants — individuals, churches, organizations — plus volunteers, donors, staff, and board members.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02920" y="1115568"/>
            <a:ext cx="16276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2,436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launch emails delivered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258568" y="1115568"/>
            <a:ext cx="16276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97.95%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rate on a rebuilt list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014216" y="1115568"/>
            <a:ext cx="16276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31.5%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— sector average is ~28.6%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2487168"/>
            <a:ext cx="2377440" cy="384048"/>
          </a:xfrm>
          <a:prstGeom prst="rect">
            <a:avLst/>
          </a:prstGeom>
          <a:solidFill>
            <a:srgbClr val="2E6E6E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6072" y="2487168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80360" y="2487168"/>
            <a:ext cx="868680" cy="384048"/>
          </a:xfrm>
          <a:prstGeom prst="rect">
            <a:avLst/>
          </a:prstGeom>
          <a:solidFill>
            <a:srgbClr val="2E6E6E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53512" y="2487168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749040" y="2487168"/>
            <a:ext cx="868680" cy="384048"/>
          </a:xfrm>
          <a:prstGeom prst="rect">
            <a:avLst/>
          </a:prstGeom>
          <a:solidFill>
            <a:srgbClr val="2E6E6E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22192" y="2487168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17720" y="2487168"/>
            <a:ext cx="868680" cy="384048"/>
          </a:xfrm>
          <a:prstGeom prst="rect">
            <a:avLst/>
          </a:prstGeom>
          <a:solidFill>
            <a:srgbClr val="2E6E6E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90872" y="2487168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2871216"/>
            <a:ext cx="2377440" cy="384048"/>
          </a:xfrm>
          <a:prstGeom prst="rect">
            <a:avLst/>
          </a:prstGeom>
          <a:solidFill>
            <a:srgbClr val="EEF3F4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" y="2871216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responses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880360" y="2871216"/>
            <a:ext cx="868680" cy="384048"/>
          </a:xfrm>
          <a:prstGeom prst="rect">
            <a:avLst/>
          </a:prstGeom>
          <a:solidFill>
            <a:srgbClr val="EEF3F4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53512" y="2871216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749040" y="2871216"/>
            <a:ext cx="868680" cy="384048"/>
          </a:xfrm>
          <a:prstGeom prst="rect">
            <a:avLst/>
          </a:prstGeom>
          <a:solidFill>
            <a:srgbClr val="EEF3F4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22192" y="2871216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17720" y="2871216"/>
            <a:ext cx="868680" cy="384048"/>
          </a:xfrm>
          <a:prstGeom prst="rect">
            <a:avLst/>
          </a:prstGeom>
          <a:solidFill>
            <a:srgbClr val="EEF3F4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90872" y="2871216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3255264"/>
            <a:ext cx="23774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072" y="3255264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RSVPs (each)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880360" y="3255264"/>
            <a:ext cx="8686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953512" y="3255264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749040" y="3255264"/>
            <a:ext cx="8686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22192" y="3255264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20–25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617720" y="3255264"/>
            <a:ext cx="8686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90872" y="3255264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" y="3639312"/>
            <a:ext cx="2377440" cy="384048"/>
          </a:xfrm>
          <a:prstGeom prst="rect">
            <a:avLst/>
          </a:prstGeom>
          <a:solidFill>
            <a:srgbClr val="EEF3F4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6072" y="363931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Story-archive gifts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880360" y="3639312"/>
            <a:ext cx="868680" cy="384048"/>
          </a:xfrm>
          <a:prstGeom prst="rect">
            <a:avLst/>
          </a:prstGeom>
          <a:solidFill>
            <a:srgbClr val="EEF3F4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53512" y="3639312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749040" y="3639312"/>
            <a:ext cx="868680" cy="384048"/>
          </a:xfrm>
          <a:prstGeom prst="rect">
            <a:avLst/>
          </a:prstGeom>
          <a:solidFill>
            <a:srgbClr val="EEF3F4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22192" y="3639312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617720" y="3639312"/>
            <a:ext cx="868680" cy="384048"/>
          </a:xfrm>
          <a:prstGeom prst="rect">
            <a:avLst/>
          </a:prstGeom>
          <a:solidFill>
            <a:srgbClr val="EEF3F4"/>
          </a:solidFill>
          <a:ln w="9525">
            <a:solidFill>
              <a:srgbClr val="D5DF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90872" y="3639312"/>
            <a:ext cx="722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422452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Listening Circles · community survey · story archive — a goodbye run on a scorecard.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5806440" y="1115568"/>
            <a:ext cx="2880360" cy="3291840"/>
          </a:xfrm>
          <a:prstGeom prst="roundRect">
            <a:avLst>
              <a:gd name="adj" fmla="val 2857"/>
            </a:avLst>
          </a:prstGeom>
          <a:solidFill>
            <a:srgbClr val="1F3A4D"/>
          </a:solidFill>
          <a:ln/>
          <a:effectLst>
            <a:outerShdw sx="100000" sy="100000" kx="0" ky="0" algn="bl" rotWithShape="0" blurRad="101600" dist="38100" dir="5400000">
              <a:srgbClr val="9AA7AE">
                <a:alpha val="3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989320" y="1325880"/>
            <a:ext cx="25146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7BC9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live — agent run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8F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FRI AUG 21 · 8:00 AM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600" b="1" dirty="0">
                <a:solidFill>
                  <a:srgbClr val="C08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FRESH NUMBERS ]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filled morning-of from the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daily report agent —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including last night's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Listening Circle (Aug 20).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3A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agent: a daily report with judgment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170432"/>
            <a:ext cx="2514600" cy="512064"/>
          </a:xfrm>
          <a:prstGeom prst="roundRect">
            <a:avLst>
              <a:gd name="adj" fmla="val 12500"/>
            </a:avLst>
          </a:prstGeom>
          <a:solidFill>
            <a:srgbClr val="2C4B6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7043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RSVP sheet (live)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017520" y="1426464"/>
            <a:ext cx="457200" cy="1426464"/>
          </a:xfrm>
          <a:prstGeom prst="line">
            <a:avLst/>
          </a:prstGeom>
          <a:noFill/>
          <a:ln/>
        </p:spPr>
      </p:sp>
      <p:sp>
        <p:nvSpPr>
          <p:cNvPr id="6" name="Shape 4"/>
          <p:cNvSpPr/>
          <p:nvPr/>
        </p:nvSpPr>
        <p:spPr>
          <a:xfrm>
            <a:off x="502920" y="1828800"/>
            <a:ext cx="2514600" cy="512064"/>
          </a:xfrm>
          <a:prstGeom prst="roundRect">
            <a:avLst>
              <a:gd name="adj" fmla="val 12500"/>
            </a:avLst>
          </a:prstGeom>
          <a:solidFill>
            <a:srgbClr val="2C4B6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82880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sheet (live)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017520" y="2084832"/>
            <a:ext cx="457200" cy="768096"/>
          </a:xfrm>
          <a:prstGeom prst="line">
            <a:avLst/>
          </a:prstGeom>
          <a:noFill/>
          <a:ln/>
        </p:spPr>
      </p:sp>
      <p:sp>
        <p:nvSpPr>
          <p:cNvPr id="9" name="Shape 7"/>
          <p:cNvSpPr/>
          <p:nvPr/>
        </p:nvSpPr>
        <p:spPr>
          <a:xfrm>
            <a:off x="502920" y="2487168"/>
            <a:ext cx="2514600" cy="512064"/>
          </a:xfrm>
          <a:prstGeom prst="roundRect">
            <a:avLst>
              <a:gd name="adj" fmla="val 12500"/>
            </a:avLst>
          </a:prstGeom>
          <a:solidFill>
            <a:srgbClr val="2C4B60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8716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Human-only stream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017520" y="2743200"/>
            <a:ext cx="457200" cy="-548640"/>
          </a:xfrm>
          <a:prstGeom prst="line">
            <a:avLst/>
          </a:prstGeom>
          <a:noFill/>
          <a:ln/>
        </p:spPr>
      </p:sp>
      <p:sp>
        <p:nvSpPr>
          <p:cNvPr id="12" name="Shape 10"/>
          <p:cNvSpPr/>
          <p:nvPr/>
        </p:nvSpPr>
        <p:spPr>
          <a:xfrm>
            <a:off x="502920" y="3145536"/>
            <a:ext cx="2514600" cy="512064"/>
          </a:xfrm>
          <a:prstGeom prst="roundRect">
            <a:avLst>
              <a:gd name="adj" fmla="val 12500"/>
            </a:avLst>
          </a:prstGeom>
          <a:solidFill>
            <a:srgbClr val="2C4B6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145536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stats (fallback-first)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017520" y="3401568"/>
            <a:ext cx="457200" cy="-2523744"/>
          </a:xfrm>
          <a:prstGeom prst="line">
            <a:avLst/>
          </a:prstGeom>
          <a:noFill/>
          <a:ln/>
        </p:spPr>
      </p:sp>
      <p:sp>
        <p:nvSpPr>
          <p:cNvPr id="15" name="Text 13"/>
          <p:cNvSpPr/>
          <p:nvPr/>
        </p:nvSpPr>
        <p:spPr>
          <a:xfrm>
            <a:off x="3035808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08A2E"/>
                </a:solidFill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520440" y="1170432"/>
            <a:ext cx="2651760" cy="749808"/>
          </a:xfrm>
          <a:prstGeom prst="roundRect">
            <a:avLst>
              <a:gd name="adj" fmla="val 8537"/>
            </a:avLst>
          </a:prstGeom>
          <a:solidFill>
            <a:srgbClr val="16303F"/>
          </a:solidFill>
          <a:ln w="12700">
            <a:solidFill>
              <a:srgbClr val="3E5B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0" y="1243584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Scorecard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FC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/ target / stretch, pace not totals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520440" y="2066544"/>
            <a:ext cx="2651760" cy="749808"/>
          </a:xfrm>
          <a:prstGeom prst="roundRect">
            <a:avLst>
              <a:gd name="adj" fmla="val 8537"/>
            </a:avLst>
          </a:prstGeom>
          <a:solidFill>
            <a:srgbClr val="16303F"/>
          </a:solidFill>
          <a:ln w="12700">
            <a:solidFill>
              <a:srgbClr val="3E5B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0" y="2139696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flags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FC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 forward until a human clears them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520440" y="2962656"/>
            <a:ext cx="2651760" cy="749808"/>
          </a:xfrm>
          <a:prstGeom prst="roundRect">
            <a:avLst>
              <a:gd name="adj" fmla="val 8537"/>
            </a:avLst>
          </a:prstGeom>
          <a:solidFill>
            <a:srgbClr val="16303F"/>
          </a:solidFill>
          <a:ln w="12700">
            <a:solidFill>
              <a:srgbClr val="3E5B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0" y="303580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Digest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AFC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ghost-written in the client lead's own voice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0" y="1170432"/>
            <a:ext cx="2240280" cy="2688336"/>
          </a:xfrm>
          <a:prstGeom prst="roundRect">
            <a:avLst>
              <a:gd name="adj" fmla="val 3673"/>
            </a:avLst>
          </a:prstGeom>
          <a:solidFill>
            <a:srgbClr val="C08A2E"/>
          </a:solidFill>
          <a:ln/>
        </p:spPr>
      </p:sp>
      <p:sp>
        <p:nvSpPr>
          <p:cNvPr id="23" name="Text 21"/>
          <p:cNvSpPr/>
          <p:nvPr/>
        </p:nvSpPr>
        <p:spPr>
          <a:xfrm>
            <a:off x="6565392" y="1325880"/>
            <a:ext cx="19202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HONESTY RULES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i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“Never claim a run happened unattended.”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i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“Surface discrepancies; never resolve them silently.”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i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“Count the community, not the insiders.”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" y="429768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engineering isn't the automation — it's the judgment encoded as rules. That's what makes a grieving board trust an agent.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lives on?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726680" y="237744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F3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675120" y="64008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LEGACY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1F3A4D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188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80160" y="1143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ending</a:t>
            </a:r>
            <a:endParaRPr lang="en-US" sz="15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Succession owned. Dissolution run with dignity, on a schedule.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02920" y="2267712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1F3A4D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80160" y="2221992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legacy</a:t>
            </a:r>
            <a:endParaRPr lang="en-US" sz="15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legacy fund distributing the remaining assets to mission-aligned partners — the community's story continues past the org.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02920" y="3346704"/>
            <a:ext cx="566928" cy="566928"/>
          </a:xfrm>
          <a:prstGeom prst="roundRect">
            <a:avLst>
              <a:gd name="adj" fmla="val 14516"/>
            </a:avLst>
          </a:prstGeom>
          <a:solidFill>
            <a:srgbClr val="1F3A4D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3467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280160" y="3300984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category</a:t>
            </a:r>
            <a:endParaRPr lang="en-US" sz="15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repeatable work: transition · turnaround · succession, for small nonprofits, businesses, and public agencies.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502920" y="45262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consultants sell beginnings. Almost nobody owns endings — and every organization has one.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protocol: Proof-to-Pipeline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1920240" cy="1188720"/>
          </a:xfrm>
          <a:prstGeom prst="roundRect">
            <a:avLst>
              <a:gd name="adj" fmla="val 6923"/>
            </a:avLst>
          </a:prstGeom>
          <a:solidFill>
            <a:srgbClr val="1F3A4D"/>
          </a:solidFill>
          <a:ln/>
          <a:effectLst>
            <a:outerShdw sx="100000" sy="100000" kx="0" ky="0" algn="bl" rotWithShape="0" blurRad="76200" dist="25400" dir="5400000">
              <a:srgbClr val="AEB9BD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9224" y="1517904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Interview</a:t>
            </a:r>
            <a:endParaRPr lang="en-US" sz="14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9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questions + 5, one at a time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2404872" y="1371600"/>
            <a:ext cx="274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8888"/>
                </a:solidFill>
              </a:rPr>
              <a:t>→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651760" y="1371600"/>
            <a:ext cx="1920240" cy="1188720"/>
          </a:xfrm>
          <a:prstGeom prst="roundRect">
            <a:avLst>
              <a:gd name="adj" fmla="val 6923"/>
            </a:avLst>
          </a:prstGeom>
          <a:solidFill>
            <a:srgbClr val="1F3A4D"/>
          </a:solidFill>
          <a:ln/>
          <a:effectLst>
            <a:outerShdw sx="100000" sy="100000" kx="0" ky="0" algn="bl" rotWithShape="0" blurRad="76200" dist="25400" dir="5400000">
              <a:srgbClr val="AEB9BD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98064" y="1517904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Build</a:t>
            </a:r>
            <a:endParaRPr lang="en-US" sz="14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9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 · promo · a working agent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553712" y="1371600"/>
            <a:ext cx="274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8888"/>
                </a:solidFill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800600" y="1371600"/>
            <a:ext cx="1920240" cy="1188720"/>
          </a:xfrm>
          <a:prstGeom prst="roundRect">
            <a:avLst>
              <a:gd name="adj" fmla="val 6923"/>
            </a:avLst>
          </a:prstGeom>
          <a:solidFill>
            <a:srgbClr val="1F3A4D"/>
          </a:solidFill>
          <a:ln/>
          <a:effectLst>
            <a:outerShdw sx="100000" sy="100000" kx="0" ky="0" algn="bl" rotWithShape="0" blurRad="76200" dist="25400" dir="5400000">
              <a:srgbClr val="AEB9BD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46904" y="1517904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Capture</a:t>
            </a:r>
            <a:endParaRPr lang="en-US" sz="14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9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gift kit → form → CRM, tagged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702552" y="1371600"/>
            <a:ext cx="274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8888"/>
                </a:solidFill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949440" y="1371600"/>
            <a:ext cx="1920240" cy="1188720"/>
          </a:xfrm>
          <a:prstGeom prst="roundRect">
            <a:avLst>
              <a:gd name="adj" fmla="val 6923"/>
            </a:avLst>
          </a:prstGeom>
          <a:solidFill>
            <a:srgbClr val="C08A2E"/>
          </a:solidFill>
          <a:ln/>
          <a:effectLst>
            <a:outerShdw sx="100000" sy="100000" kx="0" ky="0" algn="bl" rotWithShape="0" blurRad="76200" dist="25400" dir="5400000">
              <a:srgbClr val="AEB9BD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095744" y="1517904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Retro</a:t>
            </a:r>
            <a:endParaRPr lang="en-US" sz="14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session's transcript → v2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02920" y="306324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3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talk — the deck, the gifts, the follow-up you're about to get 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344728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produced by the prompt in your inbox.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2920" y="42519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transcript of this session feeds the next revision. The loop is the product.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A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gifts. One field. Your choice.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2606040" cy="1737360"/>
          </a:xfrm>
          <a:prstGeom prst="roundRect">
            <a:avLst>
              <a:gd name="adj" fmla="val 4737"/>
            </a:avLst>
          </a:prstGeom>
          <a:solidFill>
            <a:srgbClr val="16303F"/>
          </a:solidFill>
          <a:ln w="15875">
            <a:solidFill>
              <a:srgbClr val="C08A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517904"/>
            <a:ext cx="2240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spc="200" kern="0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Proof-to-Pipeline — the parameterized prompt that produced this talk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74720" y="1325880"/>
            <a:ext cx="2606040" cy="1737360"/>
          </a:xfrm>
          <a:prstGeom prst="roundRect">
            <a:avLst>
              <a:gd name="adj" fmla="val 4737"/>
            </a:avLst>
          </a:prstGeom>
          <a:solidFill>
            <a:srgbClr val="16303F"/>
          </a:solidFill>
          <a:ln w="15875">
            <a:solidFill>
              <a:srgbClr val="C08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1517904"/>
            <a:ext cx="2240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spc="200" kern="0" dirty="0">
                <a:solidFill>
                  <a:srgbClr val="C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Listening Report — the sanitized production skill, judgment rules intact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0" y="1325880"/>
            <a:ext cx="210312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agnt-neo/proof-to-pipeline/deck/form_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56248" y="1371600"/>
            <a:ext cx="1645920" cy="1645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33101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or email — whichever you prefer. </a:t>
            </a:r>
            <a:pPr algn="ctr" indent="0" marL="0">
              <a:buNone/>
            </a:pPr>
            <a:r>
              <a:rPr lang="en-US" sz="1500" dirty="0">
                <a:solidFill>
                  <a:srgbClr val="B9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kit arrives within the hour.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B9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take a small number of fractional engagements for organizations in transition — if you have one, or know one: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427939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C08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scheduler.zoom.us/paul-halvorson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Halvorson · TRIAD Synergy · DrPaul@TriadSynergy.com · Purpose Driven Action for Business and Community Leaders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2026-08-15T16:07:31Z</dcterms:created>
  <dcterms:modified xsi:type="dcterms:W3CDTF">2026-08-15T16:07:31Z</dcterms:modified>
</cp:coreProperties>
</file>